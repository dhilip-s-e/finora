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FINORA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Dhilip S 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BFSI: Intelligent Risk, Fraud &amp; Financial Experiences. Product: CASCADE, a cash-flow risk radar for people with irregular income</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Brief text"/>
          <p:cNvSpPr txBox="1"/>
          <p:nvPr/>
        </p:nvSpPr>
        <p:spPr>
          <a:xfrm>
            <a:off x="365760" y="1000000"/>
            <a:ext cx="5200000" cy="3900000"/>
          </a:xfrm>
          <a:prstGeom prst="rect">
            <a:avLst/>
          </a:prstGeom>
          <a:noFill/>
        </p:spPr>
        <p:txBody>
          <a:bodyPr wrap="square" anchor="t" lIns="45720" rIns="45720" tIns="22860" bIns="22860">
            <a:spAutoFit/>
          </a:bodyPr>
          <a:lstStyle/>
          <a:p>
            <a:pPr algn="l">
              <a:spcAft>
                <a:spcPts val="200"/>
              </a:spcAft>
            </a:pPr>
            <a:r>
              <a:rPr sz="1400" b="1">
                <a:solidFill>
                  <a:srgbClr val="4285F4"/>
                </a:solidFill>
                <a:latin typeface="Google Sans Flex"/>
              </a:rPr>
              <a:t>The problem</a:t>
            </a:r>
          </a:p>
          <a:p>
            <a:pPr algn="l">
              <a:spcAft>
                <a:spcPts val="900"/>
              </a:spcAft>
            </a:pPr>
            <a:r>
              <a:rPr sz="1200">
                <a:solidFill>
                  <a:srgbClr val="202124"/>
                </a:solidFill>
                <a:latin typeface="Google Sans Flex"/>
              </a:rPr>
              <a:t>A delayed client payment, a loan EMI and a card bill can land in the same week. Banking apps show the balance today. They do not show the combination that pushes the account negative three weeks from now.</a:t>
            </a:r>
          </a:p>
          <a:p>
            <a:pPr algn="l">
              <a:spcAft>
                <a:spcPts val="200"/>
              </a:spcAft>
            </a:pPr>
            <a:r>
              <a:rPr sz="1400" b="1">
                <a:solidFill>
                  <a:srgbClr val="4285F4"/>
                </a:solidFill>
                <a:latin typeface="Google Sans Flex"/>
              </a:rPr>
              <a:t>What we built</a:t>
            </a:r>
          </a:p>
          <a:p>
            <a:pPr algn="l">
              <a:spcAft>
                <a:spcPts val="900"/>
              </a:spcAft>
            </a:pPr>
            <a:r>
              <a:rPr sz="1200">
                <a:solidFill>
                  <a:srgbClr val="202124"/>
                </a:solidFill>
                <a:latin typeface="Google Sans Flex"/>
              </a:rPr>
              <a:t>CASCADE reads a user's income, loans, cards and bills, projects 60 days of cash flow, and uses Gemini to propose compound what-if scenarios the user would not think to ask about. A deterministic engine, not the AI, simulates each scenario with exact integer arithmetic. Gemini then explains the verified result in plain language and suggests what could help.</a:t>
            </a:r>
          </a:p>
          <a:p>
            <a:pPr algn="l">
              <a:spcAft>
                <a:spcPts val="200"/>
              </a:spcAft>
            </a:pPr>
            <a:r>
              <a:rPr sz="1400" b="1">
                <a:solidFill>
                  <a:srgbClr val="4285F4"/>
                </a:solidFill>
                <a:latin typeface="Google Sans Flex"/>
              </a:rPr>
              <a:t>Built for</a:t>
            </a:r>
          </a:p>
          <a:p>
            <a:pPr algn="l">
              <a:spcAft>
                <a:spcPts val="300"/>
              </a:spcAft>
            </a:pPr>
            <a:r>
              <a:rPr sz="1200">
                <a:solidFill>
                  <a:srgbClr val="202124"/>
                </a:solidFill>
                <a:latin typeface="Google Sans Flex"/>
              </a:rPr>
              <a:t>Freelancers, gig workers and small-business owners in India (INR first). Informational only; not financial advice.</a:t>
            </a:r>
          </a:p>
        </p:txBody>
      </p:sp>
      <p:sp>
        <p:nvSpPr>
          <p:cNvPr id="73" name="Rounded Rectangle 72"/>
          <p:cNvSpPr/>
          <p:nvPr/>
        </p:nvSpPr>
        <p:spPr>
          <a:xfrm>
            <a:off x="5800000" y="1000000"/>
            <a:ext cx="298000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900000" y="1090000"/>
            <a:ext cx="2780000" cy="620000"/>
          </a:xfrm>
          <a:prstGeom prst="rect">
            <a:avLst/>
          </a:prstGeom>
          <a:noFill/>
        </p:spPr>
        <p:txBody>
          <a:bodyPr wrap="square" anchor="ctr" lIns="45720" rIns="45720" tIns="22860" bIns="22860">
            <a:spAutoFit/>
          </a:bodyPr>
          <a:lstStyle/>
          <a:p>
            <a:pPr algn="l">
              <a:spcAft>
                <a:spcPts val="300"/>
              </a:spcAft>
            </a:pPr>
            <a:r>
              <a:rPr sz="3200" b="1">
                <a:solidFill>
                  <a:srgbClr val="4285F4"/>
                </a:solidFill>
                <a:latin typeface="Google Sans Flex"/>
              </a:rPr>
              <a:t>60 days</a:t>
            </a:r>
          </a:p>
        </p:txBody>
      </p:sp>
      <p:sp>
        <p:nvSpPr>
          <p:cNvPr id="75" name="TextBox 74"/>
          <p:cNvSpPr txBox="1"/>
          <p:nvPr/>
        </p:nvSpPr>
        <p:spPr>
          <a:xfrm>
            <a:off x="5900000" y="1700000"/>
            <a:ext cx="2780000" cy="380000"/>
          </a:xfrm>
          <a:prstGeom prst="rect">
            <a:avLst/>
          </a:prstGeom>
          <a:noFill/>
        </p:spPr>
        <p:txBody>
          <a:bodyPr wrap="square" anchor="t" lIns="45720" rIns="45720" tIns="22860" bIns="22860">
            <a:spAutoFit/>
          </a:bodyPr>
          <a:lstStyle/>
          <a:p>
            <a:pPr algn="l">
              <a:spcAft>
                <a:spcPts val="300"/>
              </a:spcAft>
            </a:pPr>
            <a:r>
              <a:rPr sz="1200">
                <a:solidFill>
                  <a:srgbClr val="5F6368"/>
                </a:solidFill>
                <a:latin typeface="Google Sans Flex"/>
              </a:rPr>
              <a:t>projected, day by day</a:t>
            </a:r>
          </a:p>
        </p:txBody>
      </p:sp>
      <p:sp>
        <p:nvSpPr>
          <p:cNvPr id="76" name="Rounded Rectangle 75"/>
          <p:cNvSpPr/>
          <p:nvPr/>
        </p:nvSpPr>
        <p:spPr>
          <a:xfrm>
            <a:off x="5800000" y="2300000"/>
            <a:ext cx="298000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00000" y="2390000"/>
            <a:ext cx="2780000" cy="620000"/>
          </a:xfrm>
          <a:prstGeom prst="rect">
            <a:avLst/>
          </a:prstGeom>
          <a:noFill/>
        </p:spPr>
        <p:txBody>
          <a:bodyPr wrap="square" anchor="ctr" lIns="45720" rIns="45720" tIns="22860" bIns="22860">
            <a:spAutoFit/>
          </a:bodyPr>
          <a:lstStyle/>
          <a:p>
            <a:pPr algn="l">
              <a:spcAft>
                <a:spcPts val="300"/>
              </a:spcAft>
            </a:pPr>
            <a:r>
              <a:rPr sz="3200" b="1">
                <a:solidFill>
                  <a:srgbClr val="34A853"/>
                </a:solidFill>
                <a:latin typeface="Google Sans Flex"/>
              </a:rPr>
              <a:t>2+</a:t>
            </a:r>
          </a:p>
        </p:txBody>
      </p:sp>
      <p:sp>
        <p:nvSpPr>
          <p:cNvPr id="78" name="TextBox 77"/>
          <p:cNvSpPr txBox="1"/>
          <p:nvPr/>
        </p:nvSpPr>
        <p:spPr>
          <a:xfrm>
            <a:off x="5900000" y="3000000"/>
            <a:ext cx="2780000" cy="380000"/>
          </a:xfrm>
          <a:prstGeom prst="rect">
            <a:avLst/>
          </a:prstGeom>
          <a:noFill/>
        </p:spPr>
        <p:txBody>
          <a:bodyPr wrap="square" anchor="t" lIns="45720" rIns="45720" tIns="22860" bIns="22860">
            <a:spAutoFit/>
          </a:bodyPr>
          <a:lstStyle/>
          <a:p>
            <a:pPr algn="l">
              <a:spcAft>
                <a:spcPts val="300"/>
              </a:spcAft>
            </a:pPr>
            <a:r>
              <a:rPr sz="1200">
                <a:solidFill>
                  <a:srgbClr val="5F6368"/>
                </a:solidFill>
                <a:latin typeface="Google Sans Flex"/>
              </a:rPr>
              <a:t>interacting events per scenario</a:t>
            </a:r>
          </a:p>
        </p:txBody>
      </p:sp>
      <p:sp>
        <p:nvSpPr>
          <p:cNvPr id="79" name="Rounded Rectangle 78"/>
          <p:cNvSpPr/>
          <p:nvPr/>
        </p:nvSpPr>
        <p:spPr>
          <a:xfrm>
            <a:off x="5800000" y="3600000"/>
            <a:ext cx="298000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00000" y="3690000"/>
            <a:ext cx="2780000" cy="620000"/>
          </a:xfrm>
          <a:prstGeom prst="rect">
            <a:avLst/>
          </a:prstGeom>
          <a:noFill/>
        </p:spPr>
        <p:txBody>
          <a:bodyPr wrap="square" anchor="ctr" lIns="45720" rIns="45720" tIns="22860" bIns="22860">
            <a:spAutoFit/>
          </a:bodyPr>
          <a:lstStyle/>
          <a:p>
            <a:pPr algn="l">
              <a:spcAft>
                <a:spcPts val="300"/>
              </a:spcAft>
            </a:pPr>
            <a:r>
              <a:rPr sz="3200" b="1">
                <a:solidFill>
                  <a:srgbClr val="EA4335"/>
                </a:solidFill>
                <a:latin typeface="Google Sans Flex"/>
              </a:rPr>
              <a:t>0</a:t>
            </a:r>
          </a:p>
        </p:txBody>
      </p:sp>
      <p:sp>
        <p:nvSpPr>
          <p:cNvPr id="81" name="TextBox 80"/>
          <p:cNvSpPr txBox="1"/>
          <p:nvPr/>
        </p:nvSpPr>
        <p:spPr>
          <a:xfrm>
            <a:off x="5900000" y="4300000"/>
            <a:ext cx="2780000" cy="380000"/>
          </a:xfrm>
          <a:prstGeom prst="rect">
            <a:avLst/>
          </a:prstGeom>
          <a:noFill/>
        </p:spPr>
        <p:txBody>
          <a:bodyPr wrap="square" anchor="t" lIns="45720" rIns="45720" tIns="22860" bIns="22860">
            <a:spAutoFit/>
          </a:bodyPr>
          <a:lstStyle/>
          <a:p>
            <a:pPr algn="l">
              <a:spcAft>
                <a:spcPts val="300"/>
              </a:spcAft>
            </a:pPr>
            <a:r>
              <a:rPr sz="1200">
                <a:solidFill>
                  <a:srgbClr val="5F6368"/>
                </a:solidFill>
                <a:latin typeface="Google Sans Flex"/>
              </a:rPr>
              <a:t>numbers invented by the AI</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TextBox 78"/>
          <p:cNvSpPr txBox="1"/>
          <p:nvPr/>
        </p:nvSpPr>
        <p:spPr>
          <a:xfrm>
            <a:off x="365760" y="663825"/>
            <a:ext cx="8412480" cy="561900"/>
          </a:xfrm>
          <a:prstGeom prst="rect">
            <a:avLst/>
          </a:prstGeom>
          <a:noFill/>
        </p:spPr>
        <p:txBody>
          <a:bodyPr wrap="square" anchor="t" lIns="45720" rIns="45720" tIns="22860" bIns="22860">
            <a:spAutoFit/>
          </a:bodyPr>
          <a:lstStyle/>
          <a:p>
            <a:pPr algn="l">
              <a:spcAft>
                <a:spcPts val="300"/>
              </a:spcAft>
            </a:pPr>
            <a:r>
              <a:rPr sz="1600" b="1">
                <a:solidFill>
                  <a:srgbClr val="202124"/>
                </a:solidFill>
                <a:latin typeface="Google Sans Flex"/>
              </a:rPr>
              <a:t>Opportunities</a:t>
            </a:r>
          </a:p>
        </p:txBody>
      </p:sp>
      <p:sp>
        <p:nvSpPr>
          <p:cNvPr id="80" name="Rounded Rectangle 79"/>
          <p:cNvSpPr/>
          <p:nvPr/>
        </p:nvSpPr>
        <p:spPr>
          <a:xfrm>
            <a:off x="365760" y="1200000"/>
            <a:ext cx="2704160" cy="30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45760" y="1260000"/>
            <a:ext cx="2544160" cy="600000"/>
          </a:xfrm>
          <a:prstGeom prst="rect">
            <a:avLst/>
          </a:prstGeom>
          <a:noFill/>
        </p:spPr>
        <p:txBody>
          <a:bodyPr wrap="square" anchor="t" lIns="45720" rIns="45720" tIns="22860" bIns="22860">
            <a:spAutoFit/>
          </a:bodyPr>
          <a:lstStyle/>
          <a:p>
            <a:pPr algn="l">
              <a:spcAft>
                <a:spcPts val="300"/>
              </a:spcAft>
            </a:pPr>
            <a:r>
              <a:rPr sz="1300" b="1">
                <a:solidFill>
                  <a:srgbClr val="4285F4"/>
                </a:solidFill>
                <a:latin typeface="Google Sans Flex"/>
              </a:rPr>
              <a:t>How different is it from existing ideas?</a:t>
            </a:r>
          </a:p>
        </p:txBody>
      </p:sp>
      <p:sp>
        <p:nvSpPr>
          <p:cNvPr id="82" name="TextBox 81"/>
          <p:cNvSpPr txBox="1"/>
          <p:nvPr/>
        </p:nvSpPr>
        <p:spPr>
          <a:xfrm>
            <a:off x="445760" y="1900000"/>
            <a:ext cx="2544160" cy="2250000"/>
          </a:xfrm>
          <a:prstGeom prst="rect">
            <a:avLst/>
          </a:prstGeom>
          <a:noFill/>
        </p:spPr>
        <p:txBody>
          <a:bodyPr wrap="square" anchor="t" lIns="45720" rIns="45720" tIns="22860" bIns="22860">
            <a:spAutoFit/>
          </a:bodyPr>
          <a:lstStyle/>
          <a:p>
            <a:pPr algn="l" marL="171450" indent="-171450">
              <a:spcAft>
                <a:spcPts val="700"/>
              </a:spcAft>
              <a:buChar char="•"/>
            </a:pPr>
            <a:r>
              <a:rPr sz="1150">
                <a:solidFill>
                  <a:srgbClr val="202124"/>
                </a:solidFill>
                <a:latin typeface="Google Sans Flex"/>
              </a:rPr>
              <a:t>Budgeting apps record the past; CASCADE looks forward and tests combinations of events.</a:t>
            </a:r>
          </a:p>
          <a:p>
            <a:pPr algn="l" marL="171450" indent="-171450">
              <a:spcAft>
                <a:spcPts val="700"/>
              </a:spcAft>
              <a:buChar char="•"/>
            </a:pPr>
            <a:r>
              <a:rPr sz="1150">
                <a:solidFill>
                  <a:srgbClr val="202124"/>
                </a:solidFill>
                <a:latin typeface="Google Sans Flex"/>
              </a:rPr>
              <a:t>Bank apps show a balance; CASCADE shows the day the balance goes negative and why.</a:t>
            </a:r>
          </a:p>
          <a:p>
            <a:pPr algn="l" marL="171450" indent="-171450">
              <a:spcAft>
                <a:spcPts val="700"/>
              </a:spcAft>
              <a:buChar char="•"/>
            </a:pPr>
            <a:r>
              <a:rPr sz="1150">
                <a:solidFill>
                  <a:srgbClr val="202124"/>
                </a:solidFill>
                <a:latin typeface="Google Sans Flex"/>
              </a:rPr>
              <a:t>Chatbots generate numbers; here the AI never produces a figure. The engine does.</a:t>
            </a:r>
          </a:p>
        </p:txBody>
      </p:sp>
      <p:sp>
        <p:nvSpPr>
          <p:cNvPr id="83" name="Rounded Rectangle 82"/>
          <p:cNvSpPr/>
          <p:nvPr/>
        </p:nvSpPr>
        <p:spPr>
          <a:xfrm>
            <a:off x="3219920" y="1200000"/>
            <a:ext cx="2704160" cy="30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99920" y="1260000"/>
            <a:ext cx="2544160" cy="600000"/>
          </a:xfrm>
          <a:prstGeom prst="rect">
            <a:avLst/>
          </a:prstGeom>
          <a:noFill/>
        </p:spPr>
        <p:txBody>
          <a:bodyPr wrap="square" anchor="t" lIns="45720" rIns="45720" tIns="22860" bIns="22860">
            <a:spAutoFit/>
          </a:bodyPr>
          <a:lstStyle/>
          <a:p>
            <a:pPr algn="l">
              <a:spcAft>
                <a:spcPts val="300"/>
              </a:spcAft>
            </a:pPr>
            <a:r>
              <a:rPr sz="1300" b="1">
                <a:solidFill>
                  <a:srgbClr val="34A853"/>
                </a:solidFill>
                <a:latin typeface="Google Sans Flex"/>
              </a:rPr>
              <a:t>How will it solve the problem?</a:t>
            </a:r>
          </a:p>
        </p:txBody>
      </p:sp>
      <p:sp>
        <p:nvSpPr>
          <p:cNvPr id="85" name="TextBox 84"/>
          <p:cNvSpPr txBox="1"/>
          <p:nvPr/>
        </p:nvSpPr>
        <p:spPr>
          <a:xfrm>
            <a:off x="3299920" y="1900000"/>
            <a:ext cx="2544160" cy="2250000"/>
          </a:xfrm>
          <a:prstGeom prst="rect">
            <a:avLst/>
          </a:prstGeom>
          <a:noFill/>
        </p:spPr>
        <p:txBody>
          <a:bodyPr wrap="square" anchor="t" lIns="45720" rIns="45720" tIns="22860" bIns="22860">
            <a:spAutoFit/>
          </a:bodyPr>
          <a:lstStyle/>
          <a:p>
            <a:pPr algn="l" marL="171450" indent="-171450">
              <a:spcAft>
                <a:spcPts val="700"/>
              </a:spcAft>
              <a:buChar char="•"/>
            </a:pPr>
            <a:r>
              <a:rPr sz="1150">
                <a:solidFill>
                  <a:srgbClr val="202124"/>
                </a:solidFill>
                <a:latin typeface="Google Sans Flex"/>
              </a:rPr>
              <a:t>Gemini proposes 2+ event scenarios from the user's own records.</a:t>
            </a:r>
          </a:p>
          <a:p>
            <a:pPr algn="l" marL="171450" indent="-171450">
              <a:spcAft>
                <a:spcPts val="700"/>
              </a:spcAft>
              <a:buChar char="•"/>
            </a:pPr>
            <a:r>
              <a:rPr sz="1150">
                <a:solidFill>
                  <a:srgbClr val="202124"/>
                </a:solidFill>
                <a:latin typeface="Google Sans Flex"/>
              </a:rPr>
              <a:t>Every scenario is validated against real record ids, then simulated exactly.</a:t>
            </a:r>
          </a:p>
          <a:p>
            <a:pPr algn="l" marL="171450" indent="-171450">
              <a:spcAft>
                <a:spcPts val="700"/>
              </a:spcAft>
              <a:buChar char="•"/>
            </a:pPr>
            <a:r>
              <a:rPr sz="1150">
                <a:solidFill>
                  <a:srgbClr val="202124"/>
                </a:solidFill>
                <a:latin typeface="Google Sans Flex"/>
              </a:rPr>
              <a:t>Interventions (shift a due date, top up the reserve, cut spend) are compared against the baseline.</a:t>
            </a:r>
          </a:p>
        </p:txBody>
      </p:sp>
      <p:sp>
        <p:nvSpPr>
          <p:cNvPr id="86" name="Rounded Rectangle 85"/>
          <p:cNvSpPr/>
          <p:nvPr/>
        </p:nvSpPr>
        <p:spPr>
          <a:xfrm>
            <a:off x="6074080" y="1200000"/>
            <a:ext cx="2704160" cy="30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154080" y="1260000"/>
            <a:ext cx="2544160" cy="600000"/>
          </a:xfrm>
          <a:prstGeom prst="rect">
            <a:avLst/>
          </a:prstGeom>
          <a:noFill/>
        </p:spPr>
        <p:txBody>
          <a:bodyPr wrap="square" anchor="t" lIns="45720" rIns="45720" tIns="22860" bIns="22860">
            <a:spAutoFit/>
          </a:bodyPr>
          <a:lstStyle/>
          <a:p>
            <a:pPr algn="l">
              <a:spcAft>
                <a:spcPts val="300"/>
              </a:spcAft>
            </a:pPr>
            <a:r>
              <a:rPr sz="1300" b="1">
                <a:solidFill>
                  <a:srgbClr val="EA4335"/>
                </a:solidFill>
                <a:latin typeface="Google Sans Flex"/>
              </a:rPr>
              <a:t>USP of the proposed solution</a:t>
            </a:r>
          </a:p>
        </p:txBody>
      </p:sp>
      <p:sp>
        <p:nvSpPr>
          <p:cNvPr id="88" name="TextBox 87"/>
          <p:cNvSpPr txBox="1"/>
          <p:nvPr/>
        </p:nvSpPr>
        <p:spPr>
          <a:xfrm>
            <a:off x="6154080" y="1900000"/>
            <a:ext cx="2544160" cy="2250000"/>
          </a:xfrm>
          <a:prstGeom prst="rect">
            <a:avLst/>
          </a:prstGeom>
          <a:noFill/>
        </p:spPr>
        <p:txBody>
          <a:bodyPr wrap="square" anchor="t" lIns="45720" rIns="45720" tIns="22860" bIns="22860">
            <a:spAutoFit/>
          </a:bodyPr>
          <a:lstStyle/>
          <a:p>
            <a:pPr algn="l" marL="171450" indent="-171450">
              <a:spcAft>
                <a:spcPts val="700"/>
              </a:spcAft>
              <a:buChar char="•"/>
            </a:pPr>
            <a:r>
              <a:rPr sz="1150">
                <a:solidFill>
                  <a:srgbClr val="202124"/>
                </a:solidFill>
                <a:latin typeface="Google Sans Flex"/>
              </a:rPr>
              <a:t>Verifiable: every amount traces to a record and a rule version (engine-1).</a:t>
            </a:r>
          </a:p>
          <a:p>
            <a:pPr algn="l" marL="171450" indent="-171450">
              <a:spcAft>
                <a:spcPts val="700"/>
              </a:spcAft>
              <a:buChar char="•"/>
            </a:pPr>
            <a:r>
              <a:rPr sz="1150">
                <a:solidFill>
                  <a:srgbClr val="202124"/>
                </a:solidFill>
                <a:latin typeface="Google Sans Flex"/>
              </a:rPr>
              <a:t>Honest: unknowns, like a missing grace period, are listed, not guessed.</a:t>
            </a:r>
          </a:p>
          <a:p>
            <a:pPr algn="l" marL="171450" indent="-171450">
              <a:spcAft>
                <a:spcPts val="700"/>
              </a:spcAft>
              <a:buChar char="•"/>
            </a:pPr>
            <a:r>
              <a:rPr sz="1150">
                <a:solidFill>
                  <a:srgbClr val="202124"/>
                </a:solidFill>
                <a:latin typeface="Google Sans Flex"/>
              </a:rPr>
              <a:t>Safe: untrusted-data prompts, schema-checked output, no probabilities, no product advice.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65760" y="10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45760" y="1085000"/>
            <a:ext cx="150000" cy="150000"/>
          </a:xfrm>
          <a:prstGeom prst="ellipse">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25760" y="10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Sign-in and demo mode</a:t>
            </a:r>
          </a:p>
        </p:txBody>
      </p:sp>
      <p:sp>
        <p:nvSpPr>
          <p:cNvPr id="91" name="TextBox 90"/>
          <p:cNvSpPr txBox="1"/>
          <p:nvPr/>
        </p:nvSpPr>
        <p:spPr>
          <a:xfrm>
            <a:off x="425760" y="13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Firebase Auth: email, Google, anonymous. One-tap synthetic demo persona.</a:t>
            </a:r>
          </a:p>
        </p:txBody>
      </p:sp>
      <p:sp>
        <p:nvSpPr>
          <p:cNvPr id="92" name="Rounded Rectangle 91"/>
          <p:cNvSpPr/>
          <p:nvPr/>
        </p:nvSpPr>
        <p:spPr>
          <a:xfrm>
            <a:off x="2575760" y="10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655760" y="1085000"/>
            <a:ext cx="150000" cy="150000"/>
          </a:xfrm>
          <a:prstGeom prst="ellipse">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35760" y="10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Financial records</a:t>
            </a:r>
          </a:p>
        </p:txBody>
      </p:sp>
      <p:sp>
        <p:nvSpPr>
          <p:cNvPr id="95" name="TextBox 94"/>
          <p:cNvSpPr txBox="1"/>
          <p:nvPr/>
        </p:nvSpPr>
        <p:spPr>
          <a:xfrm>
            <a:off x="2635760" y="13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Income, loans, cards, rent, insurance, savings. Frequencies, grace days, variable rates.</a:t>
            </a:r>
          </a:p>
        </p:txBody>
      </p:sp>
      <p:sp>
        <p:nvSpPr>
          <p:cNvPr id="96" name="Rounded Rectangle 95"/>
          <p:cNvSpPr/>
          <p:nvPr/>
        </p:nvSpPr>
        <p:spPr>
          <a:xfrm>
            <a:off x="4785760" y="10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865760" y="1085000"/>
            <a:ext cx="150000" cy="150000"/>
          </a:xfrm>
          <a:prstGeom prst="ellipse">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45760" y="10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60-day cash-flow view</a:t>
            </a:r>
          </a:p>
        </p:txBody>
      </p:sp>
      <p:sp>
        <p:nvSpPr>
          <p:cNvPr id="99" name="TextBox 98"/>
          <p:cNvSpPr txBox="1"/>
          <p:nvPr/>
        </p:nvSpPr>
        <p:spPr>
          <a:xfrm>
            <a:off x="4845760" y="13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Daily, weekly and monthly projection, lowest-balance day and shortfall dates.</a:t>
            </a:r>
          </a:p>
        </p:txBody>
      </p:sp>
      <p:sp>
        <p:nvSpPr>
          <p:cNvPr id="100" name="Rounded Rectangle 99"/>
          <p:cNvSpPr/>
          <p:nvPr/>
        </p:nvSpPr>
        <p:spPr>
          <a:xfrm>
            <a:off x="6995760" y="10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075760" y="1085000"/>
            <a:ext cx="150000" cy="150000"/>
          </a:xfrm>
          <a:prstGeom prst="ellipse">
            <a:avLst/>
          </a:prstGeom>
          <a:solidFill>
            <a:srgbClr val="EA43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255760" y="10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AI scenario discovery</a:t>
            </a:r>
          </a:p>
        </p:txBody>
      </p:sp>
      <p:sp>
        <p:nvSpPr>
          <p:cNvPr id="103" name="TextBox 102"/>
          <p:cNvSpPr txBox="1"/>
          <p:nvPr/>
        </p:nvSpPr>
        <p:spPr>
          <a:xfrm>
            <a:off x="7055760" y="13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Gemini proposes compound scenarios; each is validated and simulated.</a:t>
            </a:r>
          </a:p>
        </p:txBody>
      </p:sp>
      <p:sp>
        <p:nvSpPr>
          <p:cNvPr id="104" name="Rounded Rectangle 103"/>
          <p:cNvSpPr/>
          <p:nvPr/>
        </p:nvSpPr>
        <p:spPr>
          <a:xfrm>
            <a:off x="365760" y="225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445760" y="2335000"/>
            <a:ext cx="150000" cy="150000"/>
          </a:xfrm>
          <a:prstGeom prst="ellipse">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25760" y="229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Simulate and compare</a:t>
            </a:r>
          </a:p>
        </p:txBody>
      </p:sp>
      <p:sp>
        <p:nvSpPr>
          <p:cNvPr id="107" name="TextBox 106"/>
          <p:cNvSpPr txBox="1"/>
          <p:nvPr/>
        </p:nvSpPr>
        <p:spPr>
          <a:xfrm>
            <a:off x="425760" y="259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Deterministic engine. Baseline vs alternative; which input moves the result most.</a:t>
            </a:r>
          </a:p>
        </p:txBody>
      </p:sp>
      <p:sp>
        <p:nvSpPr>
          <p:cNvPr id="108" name="Rounded Rectangle 107"/>
          <p:cNvSpPr/>
          <p:nvPr/>
        </p:nvSpPr>
        <p:spPr>
          <a:xfrm>
            <a:off x="2575760" y="225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655760" y="2335000"/>
            <a:ext cx="150000" cy="150000"/>
          </a:xfrm>
          <a:prstGeom prst="ellipse">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35760" y="229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Interventions</a:t>
            </a:r>
          </a:p>
        </p:txBody>
      </p:sp>
      <p:sp>
        <p:nvSpPr>
          <p:cNvPr id="111" name="TextBox 110"/>
          <p:cNvSpPr txBox="1"/>
          <p:nvPr/>
        </p:nvSpPr>
        <p:spPr>
          <a:xfrm>
            <a:off x="2635760" y="259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What could help: shift an event, use grace periods, top up reserve, cut spending.</a:t>
            </a:r>
          </a:p>
        </p:txBody>
      </p:sp>
      <p:sp>
        <p:nvSpPr>
          <p:cNvPr id="112" name="Rounded Rectangle 111"/>
          <p:cNvSpPr/>
          <p:nvPr/>
        </p:nvSpPr>
        <p:spPr>
          <a:xfrm>
            <a:off x="4785760" y="225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4865760" y="2335000"/>
            <a:ext cx="150000" cy="150000"/>
          </a:xfrm>
          <a:prstGeom prst="ellipse">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045760" y="229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Assistant</a:t>
            </a:r>
          </a:p>
        </p:txBody>
      </p:sp>
      <p:sp>
        <p:nvSpPr>
          <p:cNvPr id="115" name="TextBox 114"/>
          <p:cNvSpPr txBox="1"/>
          <p:nvPr/>
        </p:nvSpPr>
        <p:spPr>
          <a:xfrm>
            <a:off x="4845760" y="259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Ask in plain words: 'What if Client A pays 10 days late?' Asks back when details are missing.</a:t>
            </a:r>
          </a:p>
        </p:txBody>
      </p:sp>
      <p:sp>
        <p:nvSpPr>
          <p:cNvPr id="116" name="Rounded Rectangle 115"/>
          <p:cNvSpPr/>
          <p:nvPr/>
        </p:nvSpPr>
        <p:spPr>
          <a:xfrm>
            <a:off x="6995760" y="225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075760" y="2335000"/>
            <a:ext cx="150000" cy="150000"/>
          </a:xfrm>
          <a:prstGeom prst="ellipse">
            <a:avLst/>
          </a:prstGeom>
          <a:solidFill>
            <a:srgbClr val="EA43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255760" y="229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Document extraction</a:t>
            </a:r>
          </a:p>
        </p:txBody>
      </p:sp>
      <p:sp>
        <p:nvSpPr>
          <p:cNvPr id="119" name="TextBox 118"/>
          <p:cNvSpPr txBox="1"/>
          <p:nvPr/>
        </p:nvSpPr>
        <p:spPr>
          <a:xfrm>
            <a:off x="7055760" y="259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Gemini reads a loan or card document: value, page, excerpt, conflicts, injection flag.</a:t>
            </a:r>
          </a:p>
        </p:txBody>
      </p:sp>
      <p:sp>
        <p:nvSpPr>
          <p:cNvPr id="120" name="Rounded Rectangle 119"/>
          <p:cNvSpPr/>
          <p:nvPr/>
        </p:nvSpPr>
        <p:spPr>
          <a:xfrm>
            <a:off x="365760" y="35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445760" y="3585000"/>
            <a:ext cx="150000" cy="150000"/>
          </a:xfrm>
          <a:prstGeom prst="ellipse">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25760" y="35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Alerts and push</a:t>
            </a:r>
          </a:p>
        </p:txBody>
      </p:sp>
      <p:sp>
        <p:nvSpPr>
          <p:cNvPr id="123" name="TextBox 122"/>
          <p:cNvSpPr txBox="1"/>
          <p:nvPr/>
        </p:nvSpPr>
        <p:spPr>
          <a:xfrm>
            <a:off x="425760" y="38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Threshold alerts with quiet hours and de-duplication; FCM push.</a:t>
            </a:r>
          </a:p>
        </p:txBody>
      </p:sp>
      <p:sp>
        <p:nvSpPr>
          <p:cNvPr id="124" name="Rounded Rectangle 123"/>
          <p:cNvSpPr/>
          <p:nvPr/>
        </p:nvSpPr>
        <p:spPr>
          <a:xfrm>
            <a:off x="2575760" y="35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2655760" y="3585000"/>
            <a:ext cx="150000" cy="150000"/>
          </a:xfrm>
          <a:prstGeom prst="ellipse">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835760" y="35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Manual events, undo</a:t>
            </a:r>
          </a:p>
        </p:txBody>
      </p:sp>
      <p:sp>
        <p:nvSpPr>
          <p:cNvPr id="127" name="TextBox 126"/>
          <p:cNvSpPr txBox="1"/>
          <p:nvPr/>
        </p:nvSpPr>
        <p:spPr>
          <a:xfrm>
            <a:off x="2635760" y="38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Add, move or remove cash events; undo the last change.</a:t>
            </a:r>
          </a:p>
        </p:txBody>
      </p:sp>
      <p:sp>
        <p:nvSpPr>
          <p:cNvPr id="128" name="Rounded Rectangle 127"/>
          <p:cNvSpPr/>
          <p:nvPr/>
        </p:nvSpPr>
        <p:spPr>
          <a:xfrm>
            <a:off x="4785760" y="35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865760" y="3585000"/>
            <a:ext cx="150000" cy="150000"/>
          </a:xfrm>
          <a:prstGeom prst="ellipse">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045760" y="35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Privacy controls</a:t>
            </a:r>
          </a:p>
        </p:txBody>
      </p:sp>
      <p:sp>
        <p:nvSpPr>
          <p:cNvPr id="131" name="TextBox 130"/>
          <p:cNvSpPr txBox="1"/>
          <p:nvPr/>
        </p:nvSpPr>
        <p:spPr>
          <a:xfrm>
            <a:off x="4845760" y="38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Export all data, delete account and data, per-user isolation.</a:t>
            </a:r>
          </a:p>
        </p:txBody>
      </p:sp>
      <p:sp>
        <p:nvSpPr>
          <p:cNvPr id="132" name="Rounded Rectangle 131"/>
          <p:cNvSpPr/>
          <p:nvPr/>
        </p:nvSpPr>
        <p:spPr>
          <a:xfrm>
            <a:off x="6995760" y="3500000"/>
            <a:ext cx="2090000" cy="113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7075760" y="3585000"/>
            <a:ext cx="150000" cy="150000"/>
          </a:xfrm>
          <a:prstGeom prst="ellipse">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255760" y="3540000"/>
            <a:ext cx="1790000" cy="270000"/>
          </a:xfrm>
          <a:prstGeom prst="rect">
            <a:avLst/>
          </a:prstGeom>
          <a:noFill/>
        </p:spPr>
        <p:txBody>
          <a:bodyPr wrap="square" anchor="t" lIns="45720" rIns="45720" tIns="22860" bIns="22860">
            <a:spAutoFit/>
          </a:bodyPr>
          <a:lstStyle/>
          <a:p>
            <a:pPr algn="l">
              <a:spcAft>
                <a:spcPts val="300"/>
              </a:spcAft>
            </a:pPr>
            <a:r>
              <a:rPr sz="1150" b="1">
                <a:solidFill>
                  <a:srgbClr val="202124"/>
                </a:solidFill>
                <a:latin typeface="Google Sans Flex"/>
              </a:rPr>
              <a:t>Not advice, by design</a:t>
            </a:r>
          </a:p>
        </p:txBody>
      </p:sp>
      <p:sp>
        <p:nvSpPr>
          <p:cNvPr id="135" name="TextBox 134"/>
          <p:cNvSpPr txBox="1"/>
          <p:nvPr/>
        </p:nvSpPr>
        <p:spPr>
          <a:xfrm>
            <a:off x="7055760" y="3840000"/>
            <a:ext cx="1970000" cy="77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Every screen labels outputs as possibilities with known and unknown inputs.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365760" y="1150000"/>
            <a:ext cx="1900000" cy="900000"/>
          </a:xfrm>
          <a:prstGeom prst="roundRect">
            <a:avLst>
              <a:gd name="adj" fmla="val 8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1  Sign in</a:t>
            </a:r>
          </a:p>
          <a:p>
            <a:pPr algn="ctr"/>
            <a:r>
              <a:rPr sz="1100" b="0">
                <a:solidFill>
                  <a:srgbClr val="FFFFFF"/>
                </a:solidFill>
                <a:latin typeface="Google Sans Flex"/>
              </a:rPr>
              <a:t>Firebase Auth</a:t>
            </a:r>
          </a:p>
          <a:p>
            <a:pPr algn="ctr"/>
            <a:r>
              <a:rPr sz="1100" b="0">
                <a:solidFill>
                  <a:srgbClr val="FFFFFF"/>
                </a:solidFill>
                <a:latin typeface="Google Sans Flex"/>
              </a:rPr>
              <a:t>anonymous / email / Google</a:t>
            </a:r>
          </a:p>
        </p:txBody>
      </p:sp>
      <p:cxnSp>
        <p:nvCxnSpPr>
          <p:cNvPr id="97" name="Connector 96"/>
          <p:cNvCxnSpPr/>
          <p:nvPr/>
        </p:nvCxnSpPr>
        <p:spPr>
          <a:xfrm>
            <a:off x="2285760" y="1600000"/>
            <a:ext cx="22000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sp>
        <p:nvSpPr>
          <p:cNvPr id="98" name="Rounded Rectangle 97"/>
          <p:cNvSpPr/>
          <p:nvPr/>
        </p:nvSpPr>
        <p:spPr>
          <a:xfrm>
            <a:off x="2525760" y="1150000"/>
            <a:ext cx="1900000" cy="900000"/>
          </a:xfrm>
          <a:prstGeom prst="roundRect">
            <a:avLst>
              <a:gd name="adj" fmla="val 8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2  Add data</a:t>
            </a:r>
          </a:p>
          <a:p>
            <a:pPr algn="ctr"/>
            <a:r>
              <a:rPr sz="1100" b="0">
                <a:solidFill>
                  <a:srgbClr val="FFFFFF"/>
                </a:solidFill>
                <a:latin typeface="Google Sans Flex"/>
              </a:rPr>
              <a:t>Records or upload a</a:t>
            </a:r>
          </a:p>
          <a:p>
            <a:pPr algn="ctr"/>
            <a:r>
              <a:rPr sz="1100" b="0">
                <a:solidFill>
                  <a:srgbClr val="FFFFFF"/>
                </a:solidFill>
                <a:latin typeface="Google Sans Flex"/>
              </a:rPr>
              <a:t>document (Gemini extract)</a:t>
            </a:r>
          </a:p>
        </p:txBody>
      </p:sp>
      <p:cxnSp>
        <p:nvCxnSpPr>
          <p:cNvPr id="99" name="Connector 98"/>
          <p:cNvCxnSpPr/>
          <p:nvPr/>
        </p:nvCxnSpPr>
        <p:spPr>
          <a:xfrm>
            <a:off x="4445760" y="1600000"/>
            <a:ext cx="22000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sp>
        <p:nvSpPr>
          <p:cNvPr id="100" name="Rounded Rectangle 99"/>
          <p:cNvSpPr/>
          <p:nvPr/>
        </p:nvSpPr>
        <p:spPr>
          <a:xfrm>
            <a:off x="4685760" y="1150000"/>
            <a:ext cx="1900000" cy="900000"/>
          </a:xfrm>
          <a:prstGeom prst="roundRect">
            <a:avLst>
              <a:gd name="adj" fmla="val 8000"/>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3  Project</a:t>
            </a:r>
          </a:p>
          <a:p>
            <a:pPr algn="ctr"/>
            <a:r>
              <a:rPr sz="1100" b="0">
                <a:solidFill>
                  <a:srgbClr val="FFFFFF"/>
                </a:solidFill>
                <a:latin typeface="Google Sans Flex"/>
              </a:rPr>
              <a:t>Engine builds the</a:t>
            </a:r>
          </a:p>
          <a:p>
            <a:pPr algn="ctr"/>
            <a:r>
              <a:rPr sz="1100" b="0">
                <a:solidFill>
                  <a:srgbClr val="FFFFFF"/>
                </a:solidFill>
                <a:latin typeface="Google Sans Flex"/>
              </a:rPr>
              <a:t>60-day cash-flow</a:t>
            </a:r>
          </a:p>
        </p:txBody>
      </p:sp>
      <p:cxnSp>
        <p:nvCxnSpPr>
          <p:cNvPr id="101" name="Connector 100"/>
          <p:cNvCxnSpPr/>
          <p:nvPr/>
        </p:nvCxnSpPr>
        <p:spPr>
          <a:xfrm>
            <a:off x="6605760" y="1600000"/>
            <a:ext cx="22000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6845760" y="1150000"/>
            <a:ext cx="1900000" cy="900000"/>
          </a:xfrm>
          <a:prstGeom prst="roundRect">
            <a:avLst>
              <a:gd name="adj" fmla="val 8000"/>
            </a:avLst>
          </a:prstGeom>
          <a:solidFill>
            <a:srgbClr val="EA43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4  Discover</a:t>
            </a:r>
          </a:p>
          <a:p>
            <a:pPr algn="ctr"/>
            <a:r>
              <a:rPr sz="1100" b="0">
                <a:solidFill>
                  <a:srgbClr val="FFFFFF"/>
                </a:solidFill>
                <a:latin typeface="Google Sans Flex"/>
              </a:rPr>
              <a:t>Gemini proposes scenarios</a:t>
            </a:r>
          </a:p>
          <a:p>
            <a:pPr algn="ctr"/>
            <a:r>
              <a:rPr sz="1100" b="0">
                <a:solidFill>
                  <a:srgbClr val="FFFFFF"/>
                </a:solidFill>
                <a:latin typeface="Google Sans Flex"/>
              </a:rPr>
              <a:t>from record ids</a:t>
            </a:r>
          </a:p>
        </p:txBody>
      </p:sp>
      <p:sp>
        <p:nvSpPr>
          <p:cNvPr id="103" name="Rounded Rectangle 102"/>
          <p:cNvSpPr/>
          <p:nvPr/>
        </p:nvSpPr>
        <p:spPr>
          <a:xfrm>
            <a:off x="365760" y="2650000"/>
            <a:ext cx="1900000" cy="900000"/>
          </a:xfrm>
          <a:prstGeom prst="roundRect">
            <a:avLst>
              <a:gd name="adj" fmla="val 8000"/>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5  Validate</a:t>
            </a:r>
          </a:p>
          <a:p>
            <a:pPr algn="ctr"/>
            <a:r>
              <a:rPr sz="1100" b="0">
                <a:solidFill>
                  <a:srgbClr val="FFFFFF"/>
                </a:solidFill>
                <a:latin typeface="Google Sans Flex"/>
              </a:rPr>
              <a:t>Reject unknown ids, dates</a:t>
            </a:r>
          </a:p>
          <a:p>
            <a:pPr algn="ctr"/>
            <a:r>
              <a:rPr sz="1100" b="0">
                <a:solidFill>
                  <a:srgbClr val="FFFFFF"/>
                </a:solidFill>
                <a:latin typeface="Google Sans Flex"/>
              </a:rPr>
              <a:t>out of horizon, bad types</a:t>
            </a:r>
          </a:p>
        </p:txBody>
      </p:sp>
      <p:cxnSp>
        <p:nvCxnSpPr>
          <p:cNvPr id="104" name="Connector 103"/>
          <p:cNvCxnSpPr/>
          <p:nvPr/>
        </p:nvCxnSpPr>
        <p:spPr>
          <a:xfrm>
            <a:off x="2285760" y="3100000"/>
            <a:ext cx="22000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2525760" y="2650000"/>
            <a:ext cx="1900000" cy="900000"/>
          </a:xfrm>
          <a:prstGeom prst="roundRect">
            <a:avLst>
              <a:gd name="adj" fmla="val 8000"/>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6  Simulate</a:t>
            </a:r>
          </a:p>
          <a:p>
            <a:pPr algn="ctr"/>
            <a:r>
              <a:rPr sz="1100" b="0">
                <a:solidFill>
                  <a:srgbClr val="FFFFFF"/>
                </a:solidFill>
                <a:latin typeface="Google Sans Flex"/>
              </a:rPr>
              <a:t>Exact integer maths:</a:t>
            </a:r>
          </a:p>
          <a:p>
            <a:pPr algn="ctr"/>
            <a:r>
              <a:rPr sz="1100" b="0">
                <a:solidFill>
                  <a:srgbClr val="FFFFFF"/>
                </a:solidFill>
                <a:latin typeface="Google Sans Flex"/>
              </a:rPr>
              <a:t>shortfall dates, lowest day</a:t>
            </a:r>
          </a:p>
        </p:txBody>
      </p:sp>
      <p:cxnSp>
        <p:nvCxnSpPr>
          <p:cNvPr id="106" name="Connector 105"/>
          <p:cNvCxnSpPr/>
          <p:nvPr/>
        </p:nvCxnSpPr>
        <p:spPr>
          <a:xfrm>
            <a:off x="4445760" y="3100000"/>
            <a:ext cx="22000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4685760" y="2650000"/>
            <a:ext cx="1900000" cy="900000"/>
          </a:xfrm>
          <a:prstGeom prst="roundRect">
            <a:avLst>
              <a:gd name="adj" fmla="val 8000"/>
            </a:avLst>
          </a:prstGeom>
          <a:solidFill>
            <a:srgbClr val="EA43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7  Explain</a:t>
            </a:r>
          </a:p>
          <a:p>
            <a:pPr algn="ctr"/>
            <a:r>
              <a:rPr sz="1100" b="0">
                <a:solidFill>
                  <a:srgbClr val="FFFFFF"/>
                </a:solidFill>
                <a:latin typeface="Google Sans Flex"/>
              </a:rPr>
              <a:t>Gemini explains verified</a:t>
            </a:r>
          </a:p>
          <a:p>
            <a:pPr algn="ctr"/>
            <a:r>
              <a:rPr sz="1100" b="0">
                <a:solidFill>
                  <a:srgbClr val="FFFFFF"/>
                </a:solidFill>
                <a:latin typeface="Google Sans Flex"/>
              </a:rPr>
              <a:t>numbers only</a:t>
            </a:r>
          </a:p>
        </p:txBody>
      </p:sp>
      <p:cxnSp>
        <p:nvCxnSpPr>
          <p:cNvPr id="108" name="Connector 107"/>
          <p:cNvCxnSpPr/>
          <p:nvPr/>
        </p:nvCxnSpPr>
        <p:spPr>
          <a:xfrm>
            <a:off x="6605760" y="3100000"/>
            <a:ext cx="22000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6845760" y="2650000"/>
            <a:ext cx="1900000" cy="900000"/>
          </a:xfrm>
          <a:prstGeom prst="roundRect">
            <a:avLst>
              <a:gd name="adj" fmla="val 8000"/>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250" b="1">
                <a:solidFill>
                  <a:srgbClr val="FFFFFF"/>
                </a:solidFill>
                <a:latin typeface="Google Sans Flex"/>
              </a:rPr>
              <a:t>8  Act</a:t>
            </a:r>
          </a:p>
          <a:p>
            <a:pPr algn="ctr"/>
            <a:r>
              <a:rPr sz="1100" b="0">
                <a:solidFill>
                  <a:srgbClr val="FFFFFF"/>
                </a:solidFill>
                <a:latin typeface="Google Sans Flex"/>
              </a:rPr>
              <a:t>Interventions, compare,</a:t>
            </a:r>
          </a:p>
          <a:p>
            <a:pPr algn="ctr"/>
            <a:r>
              <a:rPr sz="1100" b="0">
                <a:solidFill>
                  <a:srgbClr val="FFFFFF"/>
                </a:solidFill>
                <a:latin typeface="Google Sans Flex"/>
              </a:rPr>
              <a:t>alerts and push</a:t>
            </a:r>
          </a:p>
        </p:txBody>
      </p:sp>
      <p:sp>
        <p:nvSpPr>
          <p:cNvPr id="110" name="TextBox 109"/>
          <p:cNvSpPr txBox="1"/>
          <p:nvPr/>
        </p:nvSpPr>
        <p:spPr>
          <a:xfrm>
            <a:off x="365760" y="3800000"/>
            <a:ext cx="8412480" cy="1100000"/>
          </a:xfrm>
          <a:prstGeom prst="rect">
            <a:avLst/>
          </a:prstGeom>
          <a:noFill/>
        </p:spPr>
        <p:txBody>
          <a:bodyPr wrap="square" anchor="t" lIns="45720" rIns="45720" tIns="22860" bIns="22860">
            <a:spAutoFit/>
          </a:bodyPr>
          <a:lstStyle/>
          <a:p>
            <a:pPr algn="l">
              <a:spcAft>
                <a:spcPts val="300"/>
              </a:spcAft>
            </a:pPr>
            <a:r>
              <a:rPr sz="1200" b="1">
                <a:solidFill>
                  <a:srgbClr val="4285F4"/>
                </a:solidFill>
                <a:latin typeface="Google Sans Flex"/>
              </a:rPr>
              <a:t>Use case: </a:t>
            </a:r>
            <a:r>
              <a:rPr sz="1200" b="0">
                <a:solidFill>
                  <a:srgbClr val="202124"/>
                </a:solidFill>
                <a:latin typeface="Google Sans Flex"/>
              </a:rPr>
              <a:t>Asha, a freelancer, has ₹42,000 and a ₹60,000 client payment due in 6 days, with a loan EMI, rent and card bill right after. CASCADE finds that a 10-day client delay plus a ₹22,000 surprise expense turns the account negative from 26 Oct, lowest -₹64,200 on 2 Nov, then shows what could help.</a:t>
            </a:r>
          </a:p>
          <a:p>
            <a:pPr algn="l">
              <a:spcAft>
                <a:spcPts val="300"/>
              </a:spcAft>
            </a:pPr>
            <a:r>
              <a:rPr sz="1200" b="1">
                <a:solidFill>
                  <a:srgbClr val="EA4335"/>
                </a:solidFill>
                <a:latin typeface="Google Sans Flex"/>
              </a:rPr>
              <a:t>Rule: the AI proposes and explains. The engine decides every number.</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645760" y="1000000"/>
            <a:ext cx="1900000" cy="3750000"/>
          </a:xfrm>
          <a:prstGeom prst="roundRect">
            <a:avLst>
              <a:gd name="adj" fmla="val 7000"/>
            </a:avLst>
          </a:prstGeom>
          <a:solidFill>
            <a:srgbClr val="0A1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35760" y="1060000"/>
            <a:ext cx="1720000" cy="200000"/>
          </a:xfrm>
          <a:prstGeom prst="rect">
            <a:avLst/>
          </a:prstGeom>
          <a:noFill/>
        </p:spPr>
        <p:txBody>
          <a:bodyPr wrap="square" anchor="t" lIns="45720" rIns="45720" tIns="22860" bIns="22860">
            <a:spAutoFit/>
          </a:bodyPr>
          <a:lstStyle/>
          <a:p>
            <a:pPr algn="l">
              <a:spcAft>
                <a:spcPts val="300"/>
              </a:spcAft>
            </a:pPr>
            <a:r>
              <a:rPr sz="1100" b="1">
                <a:solidFill>
                  <a:srgbClr val="34D3A0"/>
                </a:solidFill>
                <a:latin typeface="Google Sans Flex"/>
              </a:rPr>
              <a:t>Home</a:t>
            </a:r>
          </a:p>
        </p:txBody>
      </p:sp>
      <p:sp>
        <p:nvSpPr>
          <p:cNvPr id="106" name="Rounded Rectangle 105"/>
          <p:cNvSpPr/>
          <p:nvPr/>
        </p:nvSpPr>
        <p:spPr>
          <a:xfrm>
            <a:off x="705760" y="1330000"/>
            <a:ext cx="1780000" cy="65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35760" y="1350000"/>
            <a:ext cx="1720000" cy="200000"/>
          </a:xfrm>
          <a:prstGeom prst="rect">
            <a:avLst/>
          </a:prstGeom>
          <a:noFill/>
        </p:spPr>
        <p:txBody>
          <a:bodyPr wrap="square" anchor="t" lIns="45720" rIns="45720" tIns="22860" bIns="22860">
            <a:spAutoFit/>
          </a:bodyPr>
          <a:lstStyle/>
          <a:p>
            <a:pPr algn="l">
              <a:spcAft>
                <a:spcPts val="300"/>
              </a:spcAft>
            </a:pPr>
            <a:r>
              <a:rPr sz="900" b="0">
                <a:solidFill>
                  <a:srgbClr val="9AA9C4"/>
                </a:solidFill>
                <a:latin typeface="Google Sans Flex"/>
              </a:rPr>
              <a:t>Balance today</a:t>
            </a:r>
          </a:p>
        </p:txBody>
      </p:sp>
      <p:sp>
        <p:nvSpPr>
          <p:cNvPr id="108" name="TextBox 107"/>
          <p:cNvSpPr txBox="1"/>
          <p:nvPr/>
        </p:nvSpPr>
        <p:spPr>
          <a:xfrm>
            <a:off x="735760" y="1540000"/>
            <a:ext cx="1720000" cy="300000"/>
          </a:xfrm>
          <a:prstGeom prst="rect">
            <a:avLst/>
          </a:prstGeom>
          <a:noFill/>
        </p:spPr>
        <p:txBody>
          <a:bodyPr wrap="square" anchor="t" lIns="45720" rIns="45720" tIns="22860" bIns="22860">
            <a:spAutoFit/>
          </a:bodyPr>
          <a:lstStyle/>
          <a:p>
            <a:pPr algn="l">
              <a:spcAft>
                <a:spcPts val="300"/>
              </a:spcAft>
            </a:pPr>
            <a:r>
              <a:rPr sz="1600" b="1">
                <a:solidFill>
                  <a:srgbClr val="EAF0FA"/>
                </a:solidFill>
                <a:latin typeface="Google Sans Flex"/>
              </a:rPr>
              <a:t>₹42,000</a:t>
            </a:r>
          </a:p>
        </p:txBody>
      </p:sp>
      <p:sp>
        <p:nvSpPr>
          <p:cNvPr id="109" name="Rounded Rectangle 108"/>
          <p:cNvSpPr/>
          <p:nvPr/>
        </p:nvSpPr>
        <p:spPr>
          <a:xfrm>
            <a:off x="705760" y="2050000"/>
            <a:ext cx="1780000" cy="800000"/>
          </a:xfrm>
          <a:prstGeom prst="roundRect">
            <a:avLst>
              <a:gd name="adj" fmla="val 10000"/>
            </a:avLst>
          </a:prstGeom>
          <a:solidFill>
            <a:srgbClr val="3A1F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35760" y="2070000"/>
            <a:ext cx="1720000" cy="200000"/>
          </a:xfrm>
          <a:prstGeom prst="rect">
            <a:avLst/>
          </a:prstGeom>
          <a:noFill/>
        </p:spPr>
        <p:txBody>
          <a:bodyPr wrap="square" anchor="t" lIns="45720" rIns="45720" tIns="22860" bIns="22860">
            <a:spAutoFit/>
          </a:bodyPr>
          <a:lstStyle/>
          <a:p>
            <a:pPr algn="l">
              <a:spcAft>
                <a:spcPts val="300"/>
              </a:spcAft>
            </a:pPr>
            <a:r>
              <a:rPr sz="900" b="1">
                <a:solidFill>
                  <a:srgbClr val="FF6B6B"/>
                </a:solidFill>
                <a:latin typeface="Google Sans Flex"/>
              </a:rPr>
              <a:t>Top risk</a:t>
            </a:r>
          </a:p>
        </p:txBody>
      </p:sp>
      <p:sp>
        <p:nvSpPr>
          <p:cNvPr id="111" name="TextBox 110"/>
          <p:cNvSpPr txBox="1"/>
          <p:nvPr/>
        </p:nvSpPr>
        <p:spPr>
          <a:xfrm>
            <a:off x="735760" y="2250000"/>
            <a:ext cx="1720000" cy="5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Client A 10 days late + ₹22,000 expense: negative from 26 Oct</a:t>
            </a:r>
          </a:p>
        </p:txBody>
      </p:sp>
      <p:sp>
        <p:nvSpPr>
          <p:cNvPr id="112" name="Rounded Rectangle 111"/>
          <p:cNvSpPr/>
          <p:nvPr/>
        </p:nvSpPr>
        <p:spPr>
          <a:xfrm>
            <a:off x="705760" y="2930000"/>
            <a:ext cx="1780000" cy="28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35760" y="296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In 8 days  EMI  -₹22,000</a:t>
            </a:r>
          </a:p>
        </p:txBody>
      </p:sp>
      <p:sp>
        <p:nvSpPr>
          <p:cNvPr id="114" name="Rounded Rectangle 113"/>
          <p:cNvSpPr/>
          <p:nvPr/>
        </p:nvSpPr>
        <p:spPr>
          <a:xfrm>
            <a:off x="705760" y="3260000"/>
            <a:ext cx="1780000" cy="28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35760" y="329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In 9 days  Rent  -₹18,000</a:t>
            </a:r>
          </a:p>
        </p:txBody>
      </p:sp>
      <p:sp>
        <p:nvSpPr>
          <p:cNvPr id="116" name="Rounded Rectangle 115"/>
          <p:cNvSpPr/>
          <p:nvPr/>
        </p:nvSpPr>
        <p:spPr>
          <a:xfrm>
            <a:off x="705760" y="3590000"/>
            <a:ext cx="1780000" cy="28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35760" y="362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In 11 days  Card  -₹15,000</a:t>
            </a:r>
          </a:p>
        </p:txBody>
      </p:sp>
      <p:sp>
        <p:nvSpPr>
          <p:cNvPr id="118" name="Rounded Rectangle 117"/>
          <p:cNvSpPr/>
          <p:nvPr/>
        </p:nvSpPr>
        <p:spPr>
          <a:xfrm>
            <a:off x="2725760" y="1000000"/>
            <a:ext cx="1900000" cy="3750000"/>
          </a:xfrm>
          <a:prstGeom prst="roundRect">
            <a:avLst>
              <a:gd name="adj" fmla="val 7000"/>
            </a:avLst>
          </a:prstGeom>
          <a:solidFill>
            <a:srgbClr val="0A1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815760" y="1060000"/>
            <a:ext cx="1720000" cy="200000"/>
          </a:xfrm>
          <a:prstGeom prst="rect">
            <a:avLst/>
          </a:prstGeom>
          <a:noFill/>
        </p:spPr>
        <p:txBody>
          <a:bodyPr wrap="square" anchor="t" lIns="45720" rIns="45720" tIns="22860" bIns="22860">
            <a:spAutoFit/>
          </a:bodyPr>
          <a:lstStyle/>
          <a:p>
            <a:pPr algn="l">
              <a:spcAft>
                <a:spcPts val="300"/>
              </a:spcAft>
            </a:pPr>
            <a:r>
              <a:rPr sz="1100" b="1">
                <a:solidFill>
                  <a:srgbClr val="34D3A0"/>
                </a:solidFill>
                <a:latin typeface="Google Sans Flex"/>
              </a:rPr>
              <a:t>Cash flow</a:t>
            </a:r>
          </a:p>
        </p:txBody>
      </p:sp>
      <p:sp>
        <p:nvSpPr>
          <p:cNvPr id="120" name="Rounded Rectangle 119"/>
          <p:cNvSpPr/>
          <p:nvPr/>
        </p:nvSpPr>
        <p:spPr>
          <a:xfrm>
            <a:off x="2785760" y="1330000"/>
            <a:ext cx="1780000" cy="150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1" name="Connector 120"/>
          <p:cNvCxnSpPr/>
          <p:nvPr/>
        </p:nvCxnSpPr>
        <p:spPr>
          <a:xfrm>
            <a:off x="2935760" y="2030000"/>
            <a:ext cx="270000" cy="200000"/>
          </a:xfrm>
          <a:prstGeom prst="line">
            <a:avLst/>
          </a:prstGeom>
          <a:ln w="19050">
            <a:solidFill>
              <a:srgbClr val="34D3A0"/>
            </a:solidFill>
            <a:tailEnd type="triangle"/>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3205760" y="2230000"/>
            <a:ext cx="270000" cy="350000"/>
          </a:xfrm>
          <a:prstGeom prst="line">
            <a:avLst/>
          </a:prstGeom>
          <a:ln w="19050">
            <a:solidFill>
              <a:srgbClr val="34D3A0"/>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475760" y="2380000"/>
            <a:ext cx="270000" cy="200000"/>
          </a:xfrm>
          <a:prstGeom prst="line">
            <a:avLst/>
          </a:prstGeom>
          <a:ln w="19050">
            <a:solidFill>
              <a:srgbClr val="34D3A0"/>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3745760" y="2380000"/>
            <a:ext cx="270000" cy="330000"/>
          </a:xfrm>
          <a:prstGeom prst="line">
            <a:avLst/>
          </a:prstGeom>
          <a:ln w="19050">
            <a:solidFill>
              <a:srgbClr val="34D3A0"/>
            </a:solidFill>
            <a:tailEnd type="triangle"/>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4015760" y="2480000"/>
            <a:ext cx="315000" cy="230000"/>
          </a:xfrm>
          <a:prstGeom prst="line">
            <a:avLst/>
          </a:prstGeom>
          <a:ln w="19050">
            <a:solidFill>
              <a:srgbClr val="34D3A0"/>
            </a:solidFill>
            <a:tailEnd type="triangle"/>
          </a:ln>
        </p:spPr>
        <p:style>
          <a:lnRef idx="2">
            <a:schemeClr val="accent1"/>
          </a:lnRef>
          <a:fillRef idx="0">
            <a:schemeClr val="accent1"/>
          </a:fillRef>
          <a:effectRef idx="1">
            <a:schemeClr val="accent1"/>
          </a:effectRef>
          <a:fontRef idx="minor">
            <a:schemeClr val="tx1"/>
          </a:fontRef>
        </p:style>
      </p:cxnSp>
      <p:sp>
        <p:nvSpPr>
          <p:cNvPr id="126" name="Rounded Rectangle 125"/>
          <p:cNvSpPr/>
          <p:nvPr/>
        </p:nvSpPr>
        <p:spPr>
          <a:xfrm>
            <a:off x="2785760" y="2950000"/>
            <a:ext cx="1780000" cy="300000"/>
          </a:xfrm>
          <a:prstGeom prst="roundRect">
            <a:avLst>
              <a:gd name="adj" fmla="val 10000"/>
            </a:avLst>
          </a:prstGeom>
          <a:solidFill>
            <a:srgbClr val="1E2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15760" y="299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Lowest day: 21 Nov  ₹5,800</a:t>
            </a:r>
          </a:p>
        </p:txBody>
      </p:sp>
      <p:sp>
        <p:nvSpPr>
          <p:cNvPr id="128" name="Rounded Rectangle 127"/>
          <p:cNvSpPr/>
          <p:nvPr/>
        </p:nvSpPr>
        <p:spPr>
          <a:xfrm>
            <a:off x="2785760" y="3300000"/>
            <a:ext cx="1780000" cy="300000"/>
          </a:xfrm>
          <a:prstGeom prst="roundRect">
            <a:avLst>
              <a:gd name="adj" fmla="val 10000"/>
            </a:avLst>
          </a:prstGeom>
          <a:solidFill>
            <a:srgbClr val="1E2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15760" y="334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60 days  |  30  |  90</a:t>
            </a:r>
          </a:p>
        </p:txBody>
      </p:sp>
      <p:sp>
        <p:nvSpPr>
          <p:cNvPr id="130" name="Rounded Rectangle 129"/>
          <p:cNvSpPr/>
          <p:nvPr/>
        </p:nvSpPr>
        <p:spPr>
          <a:xfrm>
            <a:off x="2785760" y="3650000"/>
            <a:ext cx="1780000" cy="300000"/>
          </a:xfrm>
          <a:prstGeom prst="roundRect">
            <a:avLst>
              <a:gd name="adj" fmla="val 10000"/>
            </a:avLst>
          </a:prstGeom>
          <a:solidFill>
            <a:srgbClr val="1E2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815760" y="3690000"/>
            <a:ext cx="1720000" cy="200000"/>
          </a:xfrm>
          <a:prstGeom prst="rect">
            <a:avLst/>
          </a:prstGeom>
          <a:noFill/>
        </p:spPr>
        <p:txBody>
          <a:bodyPr wrap="square" anchor="t" lIns="45720" rIns="45720" tIns="22860" bIns="22860">
            <a:spAutoFit/>
          </a:bodyPr>
          <a:lstStyle/>
          <a:p>
            <a:pPr algn="l">
              <a:spcAft>
                <a:spcPts val="300"/>
              </a:spcAft>
            </a:pPr>
            <a:r>
              <a:rPr sz="900" b="1">
                <a:solidFill>
                  <a:srgbClr val="34D3A0"/>
                </a:solidFill>
                <a:latin typeface="Google Sans Flex"/>
              </a:rPr>
              <a:t>+ Add cash event</a:t>
            </a:r>
          </a:p>
        </p:txBody>
      </p:sp>
      <p:sp>
        <p:nvSpPr>
          <p:cNvPr id="132" name="Rounded Rectangle 131"/>
          <p:cNvSpPr/>
          <p:nvPr/>
        </p:nvSpPr>
        <p:spPr>
          <a:xfrm>
            <a:off x="4805760" y="1000000"/>
            <a:ext cx="1900000" cy="3750000"/>
          </a:xfrm>
          <a:prstGeom prst="roundRect">
            <a:avLst>
              <a:gd name="adj" fmla="val 7000"/>
            </a:avLst>
          </a:prstGeom>
          <a:solidFill>
            <a:srgbClr val="0A1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895760" y="1060000"/>
            <a:ext cx="1720000" cy="200000"/>
          </a:xfrm>
          <a:prstGeom prst="rect">
            <a:avLst/>
          </a:prstGeom>
          <a:noFill/>
        </p:spPr>
        <p:txBody>
          <a:bodyPr wrap="square" anchor="t" lIns="45720" rIns="45720" tIns="22860" bIns="22860">
            <a:spAutoFit/>
          </a:bodyPr>
          <a:lstStyle/>
          <a:p>
            <a:pPr algn="l">
              <a:spcAft>
                <a:spcPts val="300"/>
              </a:spcAft>
            </a:pPr>
            <a:r>
              <a:rPr sz="1100" b="1">
                <a:solidFill>
                  <a:srgbClr val="34D3A0"/>
                </a:solidFill>
                <a:latin typeface="Google Sans Flex"/>
              </a:rPr>
              <a:t>Scenario detail</a:t>
            </a:r>
          </a:p>
        </p:txBody>
      </p:sp>
      <p:sp>
        <p:nvSpPr>
          <p:cNvPr id="134" name="Rounded Rectangle 133"/>
          <p:cNvSpPr/>
          <p:nvPr/>
        </p:nvSpPr>
        <p:spPr>
          <a:xfrm>
            <a:off x="4865760" y="1330000"/>
            <a:ext cx="1780000" cy="52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895760" y="1350000"/>
            <a:ext cx="1720000" cy="420000"/>
          </a:xfrm>
          <a:prstGeom prst="rect">
            <a:avLst/>
          </a:prstGeom>
          <a:noFill/>
        </p:spPr>
        <p:txBody>
          <a:bodyPr wrap="square" anchor="t" lIns="45720" rIns="45720" tIns="22860" bIns="22860">
            <a:spAutoFit/>
          </a:bodyPr>
          <a:lstStyle/>
          <a:p>
            <a:pPr algn="l">
              <a:spcAft>
                <a:spcPts val="300"/>
              </a:spcAft>
            </a:pPr>
            <a:r>
              <a:rPr sz="900" b="1">
                <a:solidFill>
                  <a:srgbClr val="EAF0FA"/>
                </a:solidFill>
                <a:latin typeface="Google Sans Flex"/>
              </a:rPr>
              <a:t>Late income + unexpected expense</a:t>
            </a:r>
          </a:p>
        </p:txBody>
      </p:sp>
      <p:sp>
        <p:nvSpPr>
          <p:cNvPr id="136" name="Rounded Rectangle 135"/>
          <p:cNvSpPr/>
          <p:nvPr/>
        </p:nvSpPr>
        <p:spPr>
          <a:xfrm>
            <a:off x="4865760" y="1900000"/>
            <a:ext cx="1780000" cy="600000"/>
          </a:xfrm>
          <a:prstGeom prst="roundRect">
            <a:avLst>
              <a:gd name="adj" fmla="val 10000"/>
            </a:avLst>
          </a:prstGeom>
          <a:solidFill>
            <a:srgbClr val="3A1F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895760" y="1920000"/>
            <a:ext cx="1720000" cy="200000"/>
          </a:xfrm>
          <a:prstGeom prst="rect">
            <a:avLst/>
          </a:prstGeom>
          <a:noFill/>
        </p:spPr>
        <p:txBody>
          <a:bodyPr wrap="square" anchor="t" lIns="45720" rIns="45720" tIns="22860" bIns="22860">
            <a:spAutoFit/>
          </a:bodyPr>
          <a:lstStyle/>
          <a:p>
            <a:pPr algn="l">
              <a:spcAft>
                <a:spcPts val="300"/>
              </a:spcAft>
            </a:pPr>
            <a:r>
              <a:rPr sz="900" b="0">
                <a:solidFill>
                  <a:srgbClr val="34D3A0"/>
                </a:solidFill>
                <a:latin typeface="Google Sans Flex"/>
              </a:rPr>
              <a:t>Baseline  ok</a:t>
            </a:r>
          </a:p>
        </p:txBody>
      </p:sp>
      <p:sp>
        <p:nvSpPr>
          <p:cNvPr id="138" name="TextBox 137"/>
          <p:cNvSpPr txBox="1"/>
          <p:nvPr/>
        </p:nvSpPr>
        <p:spPr>
          <a:xfrm>
            <a:off x="4895760" y="2100000"/>
            <a:ext cx="1720000" cy="200000"/>
          </a:xfrm>
          <a:prstGeom prst="rect">
            <a:avLst/>
          </a:prstGeom>
          <a:noFill/>
        </p:spPr>
        <p:txBody>
          <a:bodyPr wrap="square" anchor="t" lIns="45720" rIns="45720" tIns="22860" bIns="22860">
            <a:spAutoFit/>
          </a:bodyPr>
          <a:lstStyle/>
          <a:p>
            <a:pPr algn="l">
              <a:spcAft>
                <a:spcPts val="300"/>
              </a:spcAft>
            </a:pPr>
            <a:r>
              <a:rPr sz="900" b="0">
                <a:solidFill>
                  <a:srgbClr val="FF6B6B"/>
                </a:solidFill>
                <a:latin typeface="Google Sans Flex"/>
              </a:rPr>
              <a:t>Scenario  shortfall 26 Oct</a:t>
            </a:r>
          </a:p>
        </p:txBody>
      </p:sp>
      <p:sp>
        <p:nvSpPr>
          <p:cNvPr id="139" name="TextBox 138"/>
          <p:cNvSpPr txBox="1"/>
          <p:nvPr/>
        </p:nvSpPr>
        <p:spPr>
          <a:xfrm>
            <a:off x="4895760" y="2560000"/>
            <a:ext cx="1720000" cy="200000"/>
          </a:xfrm>
          <a:prstGeom prst="rect">
            <a:avLst/>
          </a:prstGeom>
          <a:noFill/>
        </p:spPr>
        <p:txBody>
          <a:bodyPr wrap="square" anchor="t" lIns="45720" rIns="45720" tIns="22860" bIns="22860">
            <a:spAutoFit/>
          </a:bodyPr>
          <a:lstStyle/>
          <a:p>
            <a:pPr algn="l">
              <a:spcAft>
                <a:spcPts val="300"/>
              </a:spcAft>
            </a:pPr>
            <a:r>
              <a:rPr sz="900" b="1">
                <a:solidFill>
                  <a:srgbClr val="9AA9C4"/>
                </a:solidFill>
                <a:latin typeface="Google Sans Flex"/>
              </a:rPr>
              <a:t>What could help</a:t>
            </a:r>
          </a:p>
        </p:txBody>
      </p:sp>
      <p:sp>
        <p:nvSpPr>
          <p:cNvPr id="140" name="Rounded Rectangle 139"/>
          <p:cNvSpPr/>
          <p:nvPr/>
        </p:nvSpPr>
        <p:spPr>
          <a:xfrm>
            <a:off x="4865760" y="2780000"/>
            <a:ext cx="1780000" cy="28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895760" y="281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Use card grace period</a:t>
            </a:r>
          </a:p>
        </p:txBody>
      </p:sp>
      <p:sp>
        <p:nvSpPr>
          <p:cNvPr id="142" name="Rounded Rectangle 141"/>
          <p:cNvSpPr/>
          <p:nvPr/>
        </p:nvSpPr>
        <p:spPr>
          <a:xfrm>
            <a:off x="4865760" y="3110000"/>
            <a:ext cx="1780000" cy="28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895760" y="314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Move EMI by 5 days</a:t>
            </a:r>
          </a:p>
        </p:txBody>
      </p:sp>
      <p:sp>
        <p:nvSpPr>
          <p:cNvPr id="144" name="Rounded Rectangle 143"/>
          <p:cNvSpPr/>
          <p:nvPr/>
        </p:nvSpPr>
        <p:spPr>
          <a:xfrm>
            <a:off x="4865760" y="3440000"/>
            <a:ext cx="1780000" cy="28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895760" y="347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Top up reserve</a:t>
            </a:r>
          </a:p>
        </p:txBody>
      </p:sp>
      <p:sp>
        <p:nvSpPr>
          <p:cNvPr id="146" name="TextBox 145"/>
          <p:cNvSpPr txBox="1"/>
          <p:nvPr/>
        </p:nvSpPr>
        <p:spPr>
          <a:xfrm>
            <a:off x="4895760" y="3850000"/>
            <a:ext cx="1720000" cy="200000"/>
          </a:xfrm>
          <a:prstGeom prst="rect">
            <a:avLst/>
          </a:prstGeom>
          <a:noFill/>
        </p:spPr>
        <p:txBody>
          <a:bodyPr wrap="square" anchor="t" lIns="45720" rIns="45720" tIns="22860" bIns="22860">
            <a:spAutoFit/>
          </a:bodyPr>
          <a:lstStyle/>
          <a:p>
            <a:pPr algn="l">
              <a:spcAft>
                <a:spcPts val="300"/>
              </a:spcAft>
            </a:pPr>
            <a:r>
              <a:rPr sz="900" b="0">
                <a:solidFill>
                  <a:srgbClr val="F5B942"/>
                </a:solidFill>
                <a:latin typeface="Google Sans Flex"/>
              </a:rPr>
              <a:t>Assumptions and unknowns listed</a:t>
            </a:r>
          </a:p>
        </p:txBody>
      </p:sp>
      <p:sp>
        <p:nvSpPr>
          <p:cNvPr id="147" name="Rounded Rectangle 146"/>
          <p:cNvSpPr/>
          <p:nvPr/>
        </p:nvSpPr>
        <p:spPr>
          <a:xfrm>
            <a:off x="6885760" y="1000000"/>
            <a:ext cx="1900000" cy="3750000"/>
          </a:xfrm>
          <a:prstGeom prst="roundRect">
            <a:avLst>
              <a:gd name="adj" fmla="val 7000"/>
            </a:avLst>
          </a:prstGeom>
          <a:solidFill>
            <a:srgbClr val="0A1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975760" y="1060000"/>
            <a:ext cx="1720000" cy="200000"/>
          </a:xfrm>
          <a:prstGeom prst="rect">
            <a:avLst/>
          </a:prstGeom>
          <a:noFill/>
        </p:spPr>
        <p:txBody>
          <a:bodyPr wrap="square" anchor="t" lIns="45720" rIns="45720" tIns="22860" bIns="22860">
            <a:spAutoFit/>
          </a:bodyPr>
          <a:lstStyle/>
          <a:p>
            <a:pPr algn="l">
              <a:spcAft>
                <a:spcPts val="300"/>
              </a:spcAft>
            </a:pPr>
            <a:r>
              <a:rPr sz="1100" b="1">
                <a:solidFill>
                  <a:srgbClr val="34D3A0"/>
                </a:solidFill>
                <a:latin typeface="Google Sans Flex"/>
              </a:rPr>
              <a:t>Assistant</a:t>
            </a:r>
          </a:p>
        </p:txBody>
      </p:sp>
      <p:sp>
        <p:nvSpPr>
          <p:cNvPr id="149" name="Rounded Rectangle 148"/>
          <p:cNvSpPr/>
          <p:nvPr/>
        </p:nvSpPr>
        <p:spPr>
          <a:xfrm>
            <a:off x="6945760" y="1330000"/>
            <a:ext cx="1780000" cy="380000"/>
          </a:xfrm>
          <a:prstGeom prst="roundRect">
            <a:avLst>
              <a:gd name="adj" fmla="val 10000"/>
            </a:avLst>
          </a:prstGeom>
          <a:solidFill>
            <a:srgbClr val="1E2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975760" y="1360000"/>
            <a:ext cx="1720000" cy="2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What if Client A pays 10 days late?</a:t>
            </a:r>
          </a:p>
        </p:txBody>
      </p:sp>
      <p:sp>
        <p:nvSpPr>
          <p:cNvPr id="151" name="Rounded Rectangle 150"/>
          <p:cNvSpPr/>
          <p:nvPr/>
        </p:nvSpPr>
        <p:spPr>
          <a:xfrm>
            <a:off x="6945760" y="1800000"/>
            <a:ext cx="1780000" cy="1500000"/>
          </a:xfrm>
          <a:prstGeom prst="roundRect">
            <a:avLst>
              <a:gd name="adj" fmla="val 10000"/>
            </a:avLst>
          </a:prstGeom>
          <a:solidFill>
            <a:srgbClr val="17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975760" y="1830000"/>
            <a:ext cx="1720000" cy="900000"/>
          </a:xfrm>
          <a:prstGeom prst="rect">
            <a:avLst/>
          </a:prstGeom>
          <a:noFill/>
        </p:spPr>
        <p:txBody>
          <a:bodyPr wrap="square" anchor="t" lIns="45720" rIns="45720" tIns="22860" bIns="22860">
            <a:spAutoFit/>
          </a:bodyPr>
          <a:lstStyle/>
          <a:p>
            <a:pPr algn="l">
              <a:spcAft>
                <a:spcPts val="300"/>
              </a:spcAft>
            </a:pPr>
            <a:r>
              <a:rPr sz="900" b="0">
                <a:solidFill>
                  <a:srgbClr val="EAF0FA"/>
                </a:solidFill>
                <a:latin typeface="Google Sans Flex"/>
              </a:rPr>
              <a:t>Plain-language answer from verified numbers, with the facts used and what is unknown.</a:t>
            </a:r>
          </a:p>
        </p:txBody>
      </p:sp>
      <p:sp>
        <p:nvSpPr>
          <p:cNvPr id="153" name="Rounded Rectangle 152"/>
          <p:cNvSpPr/>
          <p:nvPr/>
        </p:nvSpPr>
        <p:spPr>
          <a:xfrm>
            <a:off x="6945760" y="3400000"/>
            <a:ext cx="1780000" cy="300000"/>
          </a:xfrm>
          <a:prstGeom prst="roundRect">
            <a:avLst>
              <a:gd name="adj" fmla="val 10000"/>
            </a:avLst>
          </a:prstGeom>
          <a:solidFill>
            <a:srgbClr val="1E2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75760" y="3440000"/>
            <a:ext cx="1720000" cy="200000"/>
          </a:xfrm>
          <a:prstGeom prst="rect">
            <a:avLst/>
          </a:prstGeom>
          <a:noFill/>
        </p:spPr>
        <p:txBody>
          <a:bodyPr wrap="square" anchor="t" lIns="45720" rIns="45720" tIns="22860" bIns="22860">
            <a:spAutoFit/>
          </a:bodyPr>
          <a:lstStyle/>
          <a:p>
            <a:pPr algn="l">
              <a:spcAft>
                <a:spcPts val="300"/>
              </a:spcAft>
            </a:pPr>
            <a:r>
              <a:rPr sz="900" b="1">
                <a:solidFill>
                  <a:srgbClr val="34D3A0"/>
                </a:solidFill>
                <a:latin typeface="Google Sans Flex"/>
              </a:rPr>
              <a:t>Save as scenario</a:t>
            </a:r>
          </a:p>
        </p:txBody>
      </p:sp>
      <p:sp>
        <p:nvSpPr>
          <p:cNvPr id="155" name="Rounded Rectangle 154"/>
          <p:cNvSpPr/>
          <p:nvPr/>
        </p:nvSpPr>
        <p:spPr>
          <a:xfrm>
            <a:off x="6945760" y="4300000"/>
            <a:ext cx="1780000" cy="330000"/>
          </a:xfrm>
          <a:prstGeom prst="roundRect">
            <a:avLst>
              <a:gd name="adj" fmla="val 10000"/>
            </a:avLst>
          </a:prstGeom>
          <a:solidFill>
            <a:srgbClr val="1E2C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975760" y="4350000"/>
            <a:ext cx="1720000" cy="200000"/>
          </a:xfrm>
          <a:prstGeom prst="rect">
            <a:avLst/>
          </a:prstGeom>
          <a:noFill/>
        </p:spPr>
        <p:txBody>
          <a:bodyPr wrap="square" anchor="t" lIns="45720" rIns="45720" tIns="22860" bIns="22860">
            <a:spAutoFit/>
          </a:bodyPr>
          <a:lstStyle/>
          <a:p>
            <a:pPr algn="l">
              <a:spcAft>
                <a:spcPts val="300"/>
              </a:spcAft>
            </a:pPr>
            <a:r>
              <a:rPr sz="900" b="0">
                <a:solidFill>
                  <a:srgbClr val="9AA9C4"/>
                </a:solidFill>
                <a:latin typeface="Google Sans Flex"/>
              </a:rPr>
              <a:t>Ask a what-if...</a:t>
            </a:r>
          </a:p>
        </p:txBody>
      </p:sp>
      <p:sp>
        <p:nvSpPr>
          <p:cNvPr id="157" name="TextBox 156"/>
          <p:cNvSpPr txBox="1"/>
          <p:nvPr/>
        </p:nvSpPr>
        <p:spPr>
          <a:xfrm>
            <a:off x="365760" y="4800000"/>
            <a:ext cx="8412480" cy="25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Wireframes of the implemented Flutter screens (dark theme: emerald = healthy, amber = uncertain, red = projected negative).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365760" y="2150000"/>
            <a:ext cx="1500000" cy="900000"/>
          </a:xfrm>
          <a:prstGeom prst="roundRect">
            <a:avLst>
              <a:gd name="adj" fmla="val 8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Flutter app</a:t>
            </a:r>
          </a:p>
          <a:p>
            <a:pPr algn="ctr"/>
            <a:r>
              <a:rPr sz="950" b="0">
                <a:solidFill>
                  <a:srgbClr val="FFFFFF"/>
                </a:solidFill>
                <a:latin typeface="Google Sans Flex"/>
              </a:rPr>
              <a:t>Android / web</a:t>
            </a:r>
          </a:p>
          <a:p>
            <a:pPr algn="ctr"/>
            <a:r>
              <a:rPr sz="950" b="0">
                <a:solidFill>
                  <a:srgbClr val="FFFFFF"/>
                </a:solidFill>
                <a:latin typeface="Google Sans Flex"/>
              </a:rPr>
              <a:t>Riverpod, go_router</a:t>
            </a:r>
          </a:p>
        </p:txBody>
      </p:sp>
      <p:sp>
        <p:nvSpPr>
          <p:cNvPr id="113" name="Rounded Rectangle 112"/>
          <p:cNvSpPr/>
          <p:nvPr/>
        </p:nvSpPr>
        <p:spPr>
          <a:xfrm>
            <a:off x="2250000" y="1150000"/>
            <a:ext cx="1600000" cy="700000"/>
          </a:xfrm>
          <a:prstGeom prst="roundRect">
            <a:avLst>
              <a:gd name="adj" fmla="val 8000"/>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Firebase Auth</a:t>
            </a:r>
          </a:p>
          <a:p>
            <a:pPr algn="ctr"/>
            <a:r>
              <a:rPr sz="950" b="0">
                <a:solidFill>
                  <a:srgbClr val="FFFFFF"/>
                </a:solidFill>
                <a:latin typeface="Google Sans Flex"/>
              </a:rPr>
              <a:t>ID token (JWT)</a:t>
            </a:r>
          </a:p>
        </p:txBody>
      </p:sp>
      <p:sp>
        <p:nvSpPr>
          <p:cNvPr id="114" name="Rounded Rectangle 113"/>
          <p:cNvSpPr/>
          <p:nvPr/>
        </p:nvSpPr>
        <p:spPr>
          <a:xfrm>
            <a:off x="2250000" y="2150000"/>
            <a:ext cx="1600000" cy="900000"/>
          </a:xfrm>
          <a:prstGeom prst="roundRect">
            <a:avLst>
              <a:gd name="adj" fmla="val 8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Cloud Run</a:t>
            </a:r>
          </a:p>
          <a:p>
            <a:pPr algn="ctr"/>
            <a:r>
              <a:rPr sz="950" b="0">
                <a:solidFill>
                  <a:srgbClr val="FFFFFF"/>
                </a:solidFill>
                <a:latin typeface="Google Sans Flex"/>
              </a:rPr>
              <a:t>FastAPI service</a:t>
            </a:r>
          </a:p>
          <a:p>
            <a:pPr algn="ctr"/>
            <a:r>
              <a:rPr sz="950" b="0">
                <a:solidFill>
                  <a:srgbClr val="FFFFFF"/>
                </a:solidFill>
                <a:latin typeface="Google Sans Flex"/>
              </a:rPr>
              <a:t>finora-api</a:t>
            </a:r>
          </a:p>
        </p:txBody>
      </p:sp>
      <p:sp>
        <p:nvSpPr>
          <p:cNvPr id="115" name="Rounded Rectangle 114"/>
          <p:cNvSpPr/>
          <p:nvPr/>
        </p:nvSpPr>
        <p:spPr>
          <a:xfrm>
            <a:off x="4250000" y="1150000"/>
            <a:ext cx="1500000" cy="560000"/>
          </a:xfrm>
          <a:prstGeom prst="roundRect">
            <a:avLst>
              <a:gd name="adj" fmla="val 8000"/>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Risk engine</a:t>
            </a:r>
          </a:p>
          <a:p>
            <a:pPr algn="ctr"/>
            <a:r>
              <a:rPr sz="950" b="0">
                <a:solidFill>
                  <a:srgbClr val="FFFFFF"/>
                </a:solidFill>
                <a:latin typeface="Google Sans Flex"/>
              </a:rPr>
              <a:t>deterministic</a:t>
            </a:r>
          </a:p>
        </p:txBody>
      </p:sp>
      <p:sp>
        <p:nvSpPr>
          <p:cNvPr id="116" name="Rounded Rectangle 115"/>
          <p:cNvSpPr/>
          <p:nvPr/>
        </p:nvSpPr>
        <p:spPr>
          <a:xfrm>
            <a:off x="4250000" y="1850000"/>
            <a:ext cx="1500000" cy="560000"/>
          </a:xfrm>
          <a:prstGeom prst="roundRect">
            <a:avLst>
              <a:gd name="adj" fmla="val 8000"/>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AI provider</a:t>
            </a:r>
          </a:p>
          <a:p>
            <a:pPr algn="ctr"/>
            <a:r>
              <a:rPr sz="950" b="0">
                <a:solidFill>
                  <a:srgbClr val="FFFFFF"/>
                </a:solidFill>
                <a:latin typeface="Google Sans Flex"/>
              </a:rPr>
              <a:t>Gemini + fallback</a:t>
            </a:r>
          </a:p>
        </p:txBody>
      </p:sp>
      <p:sp>
        <p:nvSpPr>
          <p:cNvPr id="117" name="Rounded Rectangle 116"/>
          <p:cNvSpPr/>
          <p:nvPr/>
        </p:nvSpPr>
        <p:spPr>
          <a:xfrm>
            <a:off x="4250000" y="2550000"/>
            <a:ext cx="1500000" cy="560000"/>
          </a:xfrm>
          <a:prstGeom prst="roundRect">
            <a:avLst>
              <a:gd name="adj" fmla="val 8000"/>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Repo layer</a:t>
            </a:r>
          </a:p>
          <a:p>
            <a:pPr algn="ctr"/>
            <a:r>
              <a:rPr sz="950" b="0">
                <a:solidFill>
                  <a:srgbClr val="FFFFFF"/>
                </a:solidFill>
                <a:latin typeface="Google Sans Flex"/>
              </a:rPr>
              <a:t>Firestore</a:t>
            </a:r>
          </a:p>
        </p:txBody>
      </p:sp>
      <p:sp>
        <p:nvSpPr>
          <p:cNvPr id="118" name="Rounded Rectangle 117"/>
          <p:cNvSpPr/>
          <p:nvPr/>
        </p:nvSpPr>
        <p:spPr>
          <a:xfrm>
            <a:off x="6350000" y="1000000"/>
            <a:ext cx="2430000" cy="700000"/>
          </a:xfrm>
          <a:prstGeom prst="roundRect">
            <a:avLst>
              <a:gd name="adj" fmla="val 8000"/>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Firestore</a:t>
            </a:r>
          </a:p>
          <a:p>
            <a:pPr algn="ctr"/>
            <a:r>
              <a:rPr sz="950" b="0">
                <a:solidFill>
                  <a:srgbClr val="FFFFFF"/>
                </a:solidFill>
                <a:latin typeface="Google Sans Flex"/>
              </a:rPr>
              <a:t>users/{uid}/records, scenarios, alerts</a:t>
            </a:r>
          </a:p>
        </p:txBody>
      </p:sp>
      <p:sp>
        <p:nvSpPr>
          <p:cNvPr id="119" name="Rounded Rectangle 118"/>
          <p:cNvSpPr/>
          <p:nvPr/>
        </p:nvSpPr>
        <p:spPr>
          <a:xfrm>
            <a:off x="6350000" y="1900000"/>
            <a:ext cx="2430000" cy="700000"/>
          </a:xfrm>
          <a:prstGeom prst="roundRect">
            <a:avLst>
              <a:gd name="adj" fmla="val 8000"/>
            </a:avLst>
          </a:prstGeom>
          <a:solidFill>
            <a:srgbClr val="EA43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FFFFFF"/>
                </a:solidFill>
                <a:latin typeface="Google Sans Flex"/>
              </a:rPr>
              <a:t>Vertex AI: Gemini 2.5 Flash</a:t>
            </a:r>
          </a:p>
          <a:p>
            <a:pPr algn="ctr"/>
            <a:r>
              <a:rPr sz="950" b="0">
                <a:solidFill>
                  <a:srgbClr val="FFFFFF"/>
                </a:solidFill>
                <a:latin typeface="Google Sans Flex"/>
              </a:rPr>
              <a:t>structured JSON, multimodal</a:t>
            </a:r>
          </a:p>
        </p:txBody>
      </p:sp>
      <p:sp>
        <p:nvSpPr>
          <p:cNvPr id="120" name="Rounded Rectangle 119"/>
          <p:cNvSpPr/>
          <p:nvPr/>
        </p:nvSpPr>
        <p:spPr>
          <a:xfrm>
            <a:off x="6350000" y="2800000"/>
            <a:ext cx="2430000" cy="600000"/>
          </a:xfrm>
          <a:prstGeom prst="roundRect">
            <a:avLst>
              <a:gd name="adj" fmla="val 8000"/>
            </a:avLst>
          </a:prstGeom>
          <a:solidFill>
            <a:srgbClr val="FFFFFF"/>
          </a:solidFill>
          <a:ln w="12700">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202124"/>
                </a:solidFill>
                <a:latin typeface="Google Sans Flex"/>
              </a:rPr>
              <a:t>Cloud Storage  (document uploads)</a:t>
            </a:r>
          </a:p>
        </p:txBody>
      </p:sp>
      <p:sp>
        <p:nvSpPr>
          <p:cNvPr id="121" name="Rounded Rectangle 120"/>
          <p:cNvSpPr/>
          <p:nvPr/>
        </p:nvSpPr>
        <p:spPr>
          <a:xfrm>
            <a:off x="6350000" y="3500000"/>
            <a:ext cx="2430000" cy="600000"/>
          </a:xfrm>
          <a:prstGeom prst="roundRect">
            <a:avLst>
              <a:gd name="adj" fmla="val 8000"/>
            </a:avLst>
          </a:prstGeom>
          <a:solidFill>
            <a:srgbClr val="FFFFFF"/>
          </a:solidFill>
          <a:ln w="12700">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202124"/>
                </a:solidFill>
                <a:latin typeface="Google Sans Flex"/>
              </a:rPr>
              <a:t>FCM push  +  Cloud Scheduler</a:t>
            </a:r>
          </a:p>
        </p:txBody>
      </p:sp>
      <p:sp>
        <p:nvSpPr>
          <p:cNvPr id="122" name="Rounded Rectangle 121"/>
          <p:cNvSpPr/>
          <p:nvPr/>
        </p:nvSpPr>
        <p:spPr>
          <a:xfrm>
            <a:off x="2250000" y="3500000"/>
            <a:ext cx="3500000" cy="600000"/>
          </a:xfrm>
          <a:prstGeom prst="roundRect">
            <a:avLst>
              <a:gd name="adj" fmla="val 8000"/>
            </a:avLst>
          </a:prstGeom>
          <a:solidFill>
            <a:srgbClr val="FFFFFF"/>
          </a:solidFill>
          <a:ln w="12700">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100" b="1">
                <a:solidFill>
                  <a:srgbClr val="202124"/>
                </a:solidFill>
                <a:latin typeface="Google Sans Flex"/>
              </a:rPr>
              <a:t>Firestore security rules  +  Secret Manager</a:t>
            </a:r>
          </a:p>
        </p:txBody>
      </p:sp>
      <p:cxnSp>
        <p:nvCxnSpPr>
          <p:cNvPr id="123" name="Connector 122"/>
          <p:cNvCxnSpPr/>
          <p:nvPr/>
        </p:nvCxnSpPr>
        <p:spPr>
          <a:xfrm>
            <a:off x="1865760" y="2450000"/>
            <a:ext cx="384240" cy="0"/>
          </a:xfrm>
          <a:prstGeom prst="line">
            <a:avLst/>
          </a:prstGeom>
          <a:ln w="19050">
            <a:solidFill>
              <a:srgbClr val="4285F4"/>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115760" y="1500000"/>
            <a:ext cx="1134240" cy="650000"/>
          </a:xfrm>
          <a:prstGeom prst="line">
            <a:avLst/>
          </a:prstGeom>
          <a:ln w="19050">
            <a:solidFill>
              <a:srgbClr val="F9AB00"/>
            </a:solidFill>
            <a:tailEnd type="triangle"/>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050000" y="1850000"/>
            <a:ext cx="0" cy="300000"/>
          </a:xfrm>
          <a:prstGeom prst="line">
            <a:avLst/>
          </a:prstGeom>
          <a:ln w="19050">
            <a:solidFill>
              <a:srgbClr val="F9AB00"/>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850000" y="1900000"/>
            <a:ext cx="400000" cy="700000"/>
          </a:xfrm>
          <a:prstGeom prst="line">
            <a:avLst/>
          </a:prstGeom>
          <a:ln w="19050">
            <a:solidFill>
              <a:srgbClr val="34A853"/>
            </a:solidFill>
            <a:tailEnd type="triangle"/>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5750000" y="1350000"/>
            <a:ext cx="600000" cy="80000"/>
          </a:xfrm>
          <a:prstGeom prst="line">
            <a:avLst/>
          </a:prstGeom>
          <a:ln w="19050">
            <a:solidFill>
              <a:srgbClr val="F9AB00"/>
            </a:solidFill>
            <a:tailEnd type="triangle"/>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5750000" y="2130000"/>
            <a:ext cx="600000" cy="120000"/>
          </a:xfrm>
          <a:prstGeom prst="line">
            <a:avLst/>
          </a:prstGeom>
          <a:ln w="19050">
            <a:solidFill>
              <a:srgbClr val="EA4335"/>
            </a:solidFill>
            <a:tailEnd type="triangle"/>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5750000" y="1350000"/>
            <a:ext cx="600000" cy="350000"/>
          </a:xfrm>
          <a:prstGeom prst="line">
            <a:avLst/>
          </a:prstGeom>
          <a:ln w="19050">
            <a:solidFill>
              <a:srgbClr val="F9AB00"/>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3850000" y="2800000"/>
            <a:ext cx="2500000" cy="300000"/>
          </a:xfrm>
          <a:prstGeom prst="line">
            <a:avLst/>
          </a:prstGeom>
          <a:ln w="19050">
            <a:solidFill>
              <a:srgbClr val="5F636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365760" y="4300000"/>
            <a:ext cx="8412480" cy="700000"/>
          </a:xfrm>
          <a:prstGeom prst="rect">
            <a:avLst/>
          </a:prstGeom>
          <a:noFill/>
        </p:spPr>
        <p:txBody>
          <a:bodyPr wrap="square" anchor="t" lIns="45720" rIns="45720" tIns="22860" bIns="22860">
            <a:spAutoFit/>
          </a:bodyPr>
          <a:lstStyle/>
          <a:p>
            <a:pPr algn="l">
              <a:spcAft>
                <a:spcPts val="300"/>
              </a:spcAft>
            </a:pPr>
            <a:r>
              <a:rPr sz="1050">
                <a:solidFill>
                  <a:srgbClr val="5F6368"/>
                </a:solidFill>
                <a:latin typeface="Google Sans Flex"/>
              </a:rPr>
              <a:t>Solid = deployed and tested.  Dashed = implemented in the code, enabled per environment.</a:t>
            </a:r>
          </a:p>
          <a:p>
            <a:pPr algn="l">
              <a:spcAft>
                <a:spcPts val="300"/>
              </a:spcAft>
            </a:pPr>
            <a:r>
              <a:rPr sz="1100">
                <a:solidFill>
                  <a:srgbClr val="202124"/>
                </a:solidFill>
                <a:latin typeface="Google Sans Flex"/>
              </a:rPr>
              <a:t>The API holds the Gemini credentials (Vertex AI uses the Cloud Run service identity). The app never calls Gemini directly.</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65760" y="1050000"/>
            <a:ext cx="2013120" cy="420000"/>
          </a:xfrm>
          <a:prstGeom prst="roundRect">
            <a:avLst>
              <a:gd name="adj" fmla="val 8000"/>
            </a:avLst>
          </a:prstGeom>
          <a:solidFill>
            <a:srgbClr val="EA43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300" b="1">
                <a:solidFill>
                  <a:srgbClr val="FFFFFF"/>
                </a:solidFill>
                <a:latin typeface="Google Sans Flex"/>
              </a:rPr>
              <a:t>Google Cloud</a:t>
            </a:r>
          </a:p>
        </p:txBody>
      </p:sp>
      <p:sp>
        <p:nvSpPr>
          <p:cNvPr id="121" name="Rounded Rectangle 120"/>
          <p:cNvSpPr/>
          <p:nvPr/>
        </p:nvSpPr>
        <p:spPr>
          <a:xfrm>
            <a:off x="365760" y="1500000"/>
            <a:ext cx="2013120" cy="30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5760" y="1580000"/>
            <a:ext cx="1893120" cy="2850000"/>
          </a:xfrm>
          <a:prstGeom prst="rect">
            <a:avLst/>
          </a:prstGeom>
          <a:noFill/>
        </p:spPr>
        <p:txBody>
          <a:bodyPr wrap="square" anchor="t" lIns="45720" rIns="45720" tIns="22860" bIns="22860">
            <a:spAutoFit/>
          </a:bodyPr>
          <a:lstStyle/>
          <a:p>
            <a:pPr algn="l" marL="171450" indent="-171450">
              <a:spcAft>
                <a:spcPts val="800"/>
              </a:spcAft>
              <a:buChar char="•"/>
            </a:pPr>
            <a:r>
              <a:rPr sz="1150">
                <a:solidFill>
                  <a:srgbClr val="202124"/>
                </a:solidFill>
                <a:latin typeface="Google Sans Flex"/>
              </a:rPr>
              <a:t>Gemini 2.5 Flash on Vertex AI (google-genai SDK)</a:t>
            </a:r>
          </a:p>
          <a:p>
            <a:pPr algn="l" marL="171450" indent="-171450">
              <a:spcAft>
                <a:spcPts val="800"/>
              </a:spcAft>
              <a:buChar char="•"/>
            </a:pPr>
            <a:r>
              <a:rPr sz="1150">
                <a:solidFill>
                  <a:srgbClr val="202124"/>
                </a:solidFill>
                <a:latin typeface="Google Sans Flex"/>
              </a:rPr>
              <a:t>Cloud Run (container, scale to zero)</a:t>
            </a:r>
          </a:p>
          <a:p>
            <a:pPr algn="l" marL="171450" indent="-171450">
              <a:spcAft>
                <a:spcPts val="800"/>
              </a:spcAft>
              <a:buChar char="•"/>
            </a:pPr>
            <a:r>
              <a:rPr sz="1150">
                <a:solidFill>
                  <a:srgbClr val="202124"/>
                </a:solidFill>
                <a:latin typeface="Google Sans Flex"/>
              </a:rPr>
              <a:t>Cloud Build + Artifact Registry</a:t>
            </a:r>
          </a:p>
          <a:p>
            <a:pPr algn="l" marL="171450" indent="-171450">
              <a:spcAft>
                <a:spcPts val="800"/>
              </a:spcAft>
              <a:buChar char="•"/>
            </a:pPr>
            <a:r>
              <a:rPr sz="1150">
                <a:solidFill>
                  <a:srgbClr val="202124"/>
                </a:solidFill>
                <a:latin typeface="Google Sans Flex"/>
              </a:rPr>
              <a:t>Cloud Storage, Cloud Scheduler, Secret Manager</a:t>
            </a:r>
          </a:p>
        </p:txBody>
      </p:sp>
      <p:sp>
        <p:nvSpPr>
          <p:cNvPr id="123" name="Rounded Rectangle 122"/>
          <p:cNvSpPr/>
          <p:nvPr/>
        </p:nvSpPr>
        <p:spPr>
          <a:xfrm>
            <a:off x="2498880" y="1050000"/>
            <a:ext cx="2013120" cy="420000"/>
          </a:xfrm>
          <a:prstGeom prst="roundRect">
            <a:avLst>
              <a:gd name="adj" fmla="val 8000"/>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300" b="1">
                <a:solidFill>
                  <a:srgbClr val="FFFFFF"/>
                </a:solidFill>
                <a:latin typeface="Google Sans Flex"/>
              </a:rPr>
              <a:t>Firebase</a:t>
            </a:r>
          </a:p>
        </p:txBody>
      </p:sp>
      <p:sp>
        <p:nvSpPr>
          <p:cNvPr id="124" name="Rounded Rectangle 123"/>
          <p:cNvSpPr/>
          <p:nvPr/>
        </p:nvSpPr>
        <p:spPr>
          <a:xfrm>
            <a:off x="2498880" y="1500000"/>
            <a:ext cx="2013120" cy="30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558880" y="1580000"/>
            <a:ext cx="1893120" cy="2850000"/>
          </a:xfrm>
          <a:prstGeom prst="rect">
            <a:avLst/>
          </a:prstGeom>
          <a:noFill/>
        </p:spPr>
        <p:txBody>
          <a:bodyPr wrap="square" anchor="t" lIns="45720" rIns="45720" tIns="22860" bIns="22860">
            <a:spAutoFit/>
          </a:bodyPr>
          <a:lstStyle/>
          <a:p>
            <a:pPr algn="l" marL="171450" indent="-171450">
              <a:spcAft>
                <a:spcPts val="800"/>
              </a:spcAft>
              <a:buChar char="•"/>
            </a:pPr>
            <a:r>
              <a:rPr sz="1150">
                <a:solidFill>
                  <a:srgbClr val="202124"/>
                </a:solidFill>
                <a:latin typeface="Google Sans Flex"/>
              </a:rPr>
              <a:t>Cloud Firestore (data + security rules)</a:t>
            </a:r>
          </a:p>
          <a:p>
            <a:pPr algn="l" marL="171450" indent="-171450">
              <a:spcAft>
                <a:spcPts val="800"/>
              </a:spcAft>
              <a:buChar char="•"/>
            </a:pPr>
            <a:r>
              <a:rPr sz="1150">
                <a:solidFill>
                  <a:srgbClr val="202124"/>
                </a:solidFill>
                <a:latin typeface="Google Sans Flex"/>
              </a:rPr>
              <a:t>Firebase Authentication (anonymous, email, Google)</a:t>
            </a:r>
          </a:p>
          <a:p>
            <a:pPr algn="l" marL="171450" indent="-171450">
              <a:spcAft>
                <a:spcPts val="800"/>
              </a:spcAft>
              <a:buChar char="•"/>
            </a:pPr>
            <a:r>
              <a:rPr sz="1150">
                <a:solidFill>
                  <a:srgbClr val="202124"/>
                </a:solidFill>
                <a:latin typeface="Google Sans Flex"/>
              </a:rPr>
              <a:t>Firebase Cloud Messaging</a:t>
            </a:r>
          </a:p>
          <a:p>
            <a:pPr algn="l" marL="171450" indent="-171450">
              <a:spcAft>
                <a:spcPts val="800"/>
              </a:spcAft>
              <a:buChar char="•"/>
            </a:pPr>
            <a:r>
              <a:rPr sz="1150">
                <a:solidFill>
                  <a:srgbClr val="202124"/>
                </a:solidFill>
                <a:latin typeface="Google Sans Flex"/>
              </a:rPr>
              <a:t>Firebase App Check (Play Integrity)</a:t>
            </a:r>
          </a:p>
        </p:txBody>
      </p:sp>
      <p:sp>
        <p:nvSpPr>
          <p:cNvPr id="126" name="Rounded Rectangle 125"/>
          <p:cNvSpPr/>
          <p:nvPr/>
        </p:nvSpPr>
        <p:spPr>
          <a:xfrm>
            <a:off x="4632000" y="1050000"/>
            <a:ext cx="2013120" cy="420000"/>
          </a:xfrm>
          <a:prstGeom prst="roundRect">
            <a:avLst>
              <a:gd name="adj" fmla="val 8000"/>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300" b="1">
                <a:solidFill>
                  <a:srgbClr val="FFFFFF"/>
                </a:solidFill>
                <a:latin typeface="Google Sans Flex"/>
              </a:rPr>
              <a:t>Backend</a:t>
            </a:r>
          </a:p>
        </p:txBody>
      </p:sp>
      <p:sp>
        <p:nvSpPr>
          <p:cNvPr id="127" name="Rounded Rectangle 126"/>
          <p:cNvSpPr/>
          <p:nvPr/>
        </p:nvSpPr>
        <p:spPr>
          <a:xfrm>
            <a:off x="4632000" y="1500000"/>
            <a:ext cx="2013120" cy="30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692000" y="1580000"/>
            <a:ext cx="1893120" cy="2850000"/>
          </a:xfrm>
          <a:prstGeom prst="rect">
            <a:avLst/>
          </a:prstGeom>
          <a:noFill/>
        </p:spPr>
        <p:txBody>
          <a:bodyPr wrap="square" anchor="t" lIns="45720" rIns="45720" tIns="22860" bIns="22860">
            <a:spAutoFit/>
          </a:bodyPr>
          <a:lstStyle/>
          <a:p>
            <a:pPr algn="l" marL="171450" indent="-171450">
              <a:spcAft>
                <a:spcPts val="800"/>
              </a:spcAft>
              <a:buChar char="•"/>
            </a:pPr>
            <a:r>
              <a:rPr sz="1150">
                <a:solidFill>
                  <a:srgbClr val="202124"/>
                </a:solidFill>
                <a:latin typeface="Google Sans Flex"/>
              </a:rPr>
              <a:t>Python 3.11, FastAPI, Pydantic v2</a:t>
            </a:r>
          </a:p>
          <a:p>
            <a:pPr algn="l" marL="171450" indent="-171450">
              <a:spcAft>
                <a:spcPts val="800"/>
              </a:spcAft>
              <a:buChar char="•"/>
            </a:pPr>
            <a:r>
              <a:rPr sz="1150">
                <a:solidFill>
                  <a:srgbClr val="202124"/>
                </a:solidFill>
                <a:latin typeface="Google Sans Flex"/>
              </a:rPr>
              <a:t>Integer minor-unit money, half-up rounding</a:t>
            </a:r>
          </a:p>
          <a:p>
            <a:pPr algn="l" marL="171450" indent="-171450">
              <a:spcAft>
                <a:spcPts val="800"/>
              </a:spcAft>
              <a:buChar char="•"/>
            </a:pPr>
            <a:r>
              <a:rPr sz="1150">
                <a:solidFill>
                  <a:srgbClr val="202124"/>
                </a:solidFill>
                <a:latin typeface="Google Sans Flex"/>
              </a:rPr>
              <a:t>Rate limiting, typed error envelope</a:t>
            </a:r>
          </a:p>
          <a:p>
            <a:pPr algn="l" marL="171450" indent="-171450">
              <a:spcAft>
                <a:spcPts val="800"/>
              </a:spcAft>
              <a:buChar char="•"/>
            </a:pPr>
            <a:r>
              <a:rPr sz="1150">
                <a:solidFill>
                  <a:srgbClr val="202124"/>
                </a:solidFill>
                <a:latin typeface="Google Sans Flex"/>
              </a:rPr>
              <a:t>pytest: 51 tests</a:t>
            </a:r>
          </a:p>
        </p:txBody>
      </p:sp>
      <p:sp>
        <p:nvSpPr>
          <p:cNvPr id="129" name="Rounded Rectangle 128"/>
          <p:cNvSpPr/>
          <p:nvPr/>
        </p:nvSpPr>
        <p:spPr>
          <a:xfrm>
            <a:off x="6765120" y="1050000"/>
            <a:ext cx="2013120" cy="420000"/>
          </a:xfrm>
          <a:prstGeom prst="roundRect">
            <a:avLst>
              <a:gd name="adj" fmla="val 8000"/>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r>
              <a:rPr sz="1300" b="1">
                <a:solidFill>
                  <a:srgbClr val="FFFFFF"/>
                </a:solidFill>
                <a:latin typeface="Google Sans Flex"/>
              </a:rPr>
              <a:t>Mobile / web</a:t>
            </a:r>
          </a:p>
        </p:txBody>
      </p:sp>
      <p:sp>
        <p:nvSpPr>
          <p:cNvPr id="130" name="Rounded Rectangle 129"/>
          <p:cNvSpPr/>
          <p:nvPr/>
        </p:nvSpPr>
        <p:spPr>
          <a:xfrm>
            <a:off x="6765120" y="1500000"/>
            <a:ext cx="2013120" cy="30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825120" y="1580000"/>
            <a:ext cx="1893120" cy="2850000"/>
          </a:xfrm>
          <a:prstGeom prst="rect">
            <a:avLst/>
          </a:prstGeom>
          <a:noFill/>
        </p:spPr>
        <p:txBody>
          <a:bodyPr wrap="square" anchor="t" lIns="45720" rIns="45720" tIns="22860" bIns="22860">
            <a:spAutoFit/>
          </a:bodyPr>
          <a:lstStyle/>
          <a:p>
            <a:pPr algn="l" marL="171450" indent="-171450">
              <a:spcAft>
                <a:spcPts val="800"/>
              </a:spcAft>
              <a:buChar char="•"/>
            </a:pPr>
            <a:r>
              <a:rPr sz="1150">
                <a:solidFill>
                  <a:srgbClr val="202124"/>
                </a:solidFill>
                <a:latin typeface="Google Sans Flex"/>
              </a:rPr>
              <a:t>Flutter (Dart)</a:t>
            </a:r>
          </a:p>
          <a:p>
            <a:pPr algn="l" marL="171450" indent="-171450">
              <a:spcAft>
                <a:spcPts val="800"/>
              </a:spcAft>
              <a:buChar char="•"/>
            </a:pPr>
            <a:r>
              <a:rPr sz="1150">
                <a:solidFill>
                  <a:srgbClr val="202124"/>
                </a:solidFill>
                <a:latin typeface="Google Sans Flex"/>
              </a:rPr>
              <a:t>Riverpod, go_router</a:t>
            </a:r>
          </a:p>
          <a:p>
            <a:pPr algn="l" marL="171450" indent="-171450">
              <a:spcAft>
                <a:spcPts val="800"/>
              </a:spcAft>
              <a:buChar char="•"/>
            </a:pPr>
            <a:r>
              <a:rPr sz="1150">
                <a:solidFill>
                  <a:srgbClr val="202124"/>
                </a:solidFill>
                <a:latin typeface="Google Sans Flex"/>
              </a:rPr>
              <a:t>fl_chart for the projection</a:t>
            </a:r>
          </a:p>
          <a:p>
            <a:pPr algn="l" marL="171450" indent="-171450">
              <a:spcAft>
                <a:spcPts val="800"/>
              </a:spcAft>
              <a:buChar char="•"/>
            </a:pPr>
            <a:r>
              <a:rPr sz="1150">
                <a:solidFill>
                  <a:srgbClr val="202124"/>
                </a:solidFill>
                <a:latin typeface="Google Sans Flex"/>
              </a:rPr>
              <a:t>flutter_secure_storage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graphicFrame>
        <p:nvGraphicFramePr>
          <p:cNvPr id="128" name="Table 127"/>
          <p:cNvGraphicFramePr>
            <a:graphicFrameLocks noGrp="1"/>
          </p:cNvGraphicFramePr>
          <p:nvPr/>
        </p:nvGraphicFramePr>
        <p:xfrm>
          <a:off x="365760" y="1050000"/>
          <a:ext cx="8412480" cy="2500000"/>
        </p:xfrm>
        <a:graphic>
          <a:graphicData uri="http://schemas.openxmlformats.org/drawingml/2006/table">
            <a:tbl>
              <a:tblPr firstRow="1" bandRow="1">
                <a:tableStyleId>{5C22544A-7EE6-4342-B048-85BDC9FD1C3A}</a:tableStyleId>
              </a:tblPr>
              <a:tblGrid>
                <a:gridCol w="2600000"/>
                <a:gridCol w="3500000"/>
                <a:gridCol w="2312480"/>
              </a:tblGrid>
              <a:tr h="416666">
                <a:tc>
                  <a:txBody>
                    <a:bodyPr/>
                    <a:lstStyle/>
                    <a:p>
                      <a:r>
                        <a:rPr sz="1150" b="1">
                          <a:solidFill>
                            <a:srgbClr val="FFFFFF"/>
                          </a:solidFill>
                          <a:latin typeface="Google Sans Flex"/>
                        </a:rPr>
                        <a:t>Component</a:t>
                      </a:r>
                    </a:p>
                  </a:txBody>
                  <a:tcPr>
                    <a:solidFill>
                      <a:srgbClr val="4285F4"/>
                    </a:solidFill>
                  </a:tcPr>
                </a:tc>
                <a:tc>
                  <a:txBody>
                    <a:bodyPr/>
                    <a:lstStyle/>
                    <a:p>
                      <a:r>
                        <a:rPr sz="1150" b="1">
                          <a:solidFill>
                            <a:srgbClr val="FFFFFF"/>
                          </a:solidFill>
                          <a:latin typeface="Google Sans Flex"/>
                        </a:rPr>
                        <a:t>Pricing basis</a:t>
                      </a:r>
                    </a:p>
                  </a:txBody>
                  <a:tcPr>
                    <a:solidFill>
                      <a:srgbClr val="4285F4"/>
                    </a:solidFill>
                  </a:tcPr>
                </a:tc>
                <a:tc>
                  <a:txBody>
                    <a:bodyPr/>
                    <a:lstStyle/>
                    <a:p>
                      <a:r>
                        <a:rPr sz="1150" b="1">
                          <a:solidFill>
                            <a:srgbClr val="FFFFFF"/>
                          </a:solidFill>
                          <a:latin typeface="Google Sans Flex"/>
                        </a:rPr>
                        <a:t>Prototype estimate</a:t>
                      </a:r>
                    </a:p>
                  </a:txBody>
                  <a:tcPr>
                    <a:solidFill>
                      <a:srgbClr val="4285F4"/>
                    </a:solidFill>
                  </a:tcPr>
                </a:tc>
              </a:tr>
              <a:tr h="416666">
                <a:tc>
                  <a:txBody>
                    <a:bodyPr/>
                    <a:lstStyle/>
                    <a:p>
                      <a:r>
                        <a:rPr sz="1150" b="0">
                          <a:solidFill>
                            <a:srgbClr val="202124"/>
                          </a:solidFill>
                          <a:latin typeface="Google Sans Flex"/>
                        </a:rPr>
                        <a:t>Cloud Run</a:t>
                      </a:r>
                    </a:p>
                  </a:txBody>
                  <a:tcPr>
                    <a:solidFill>
                      <a:srgbClr val="F1F3F4"/>
                    </a:solidFill>
                  </a:tcPr>
                </a:tc>
                <a:tc>
                  <a:txBody>
                    <a:bodyPr/>
                    <a:lstStyle/>
                    <a:p>
                      <a:r>
                        <a:rPr sz="1150" b="0">
                          <a:solidFill>
                            <a:srgbClr val="202124"/>
                          </a:solidFill>
                          <a:latin typeface="Google Sans Flex"/>
                        </a:rPr>
                        <a:t>Per request and CPU time; scales to zero</a:t>
                      </a:r>
                    </a:p>
                  </a:txBody>
                  <a:tcPr>
                    <a:solidFill>
                      <a:srgbClr val="F1F3F4"/>
                    </a:solidFill>
                  </a:tcPr>
                </a:tc>
                <a:tc>
                  <a:txBody>
                    <a:bodyPr/>
                    <a:lstStyle/>
                    <a:p>
                      <a:r>
                        <a:rPr sz="1150" b="0">
                          <a:solidFill>
                            <a:srgbClr val="202124"/>
                          </a:solidFill>
                          <a:latin typeface="Google Sans Flex"/>
                        </a:rPr>
                        <a:t>Within free tier at demo traffic</a:t>
                      </a:r>
                    </a:p>
                  </a:txBody>
                  <a:tcPr>
                    <a:solidFill>
                      <a:srgbClr val="F1F3F4"/>
                    </a:solidFill>
                  </a:tcPr>
                </a:tc>
              </a:tr>
              <a:tr h="416666">
                <a:tc>
                  <a:txBody>
                    <a:bodyPr/>
                    <a:lstStyle/>
                    <a:p>
                      <a:r>
                        <a:rPr sz="1150" b="0">
                          <a:solidFill>
                            <a:srgbClr val="202124"/>
                          </a:solidFill>
                          <a:latin typeface="Google Sans Flex"/>
                        </a:rPr>
                        <a:t>Firestore</a:t>
                      </a:r>
                    </a:p>
                  </a:txBody>
                  <a:tcPr>
                    <a:solidFill>
                      <a:srgbClr val="FFFFFF"/>
                    </a:solidFill>
                  </a:tcPr>
                </a:tc>
                <a:tc>
                  <a:txBody>
                    <a:bodyPr/>
                    <a:lstStyle/>
                    <a:p>
                      <a:r>
                        <a:rPr sz="1150" b="0">
                          <a:solidFill>
                            <a:srgbClr val="202124"/>
                          </a:solidFill>
                          <a:latin typeface="Google Sans Flex"/>
                        </a:rPr>
                        <a:t>Reads, writes, storage</a:t>
                      </a:r>
                    </a:p>
                  </a:txBody>
                  <a:tcPr>
                    <a:solidFill>
                      <a:srgbClr val="FFFFFF"/>
                    </a:solidFill>
                  </a:tcPr>
                </a:tc>
                <a:tc>
                  <a:txBody>
                    <a:bodyPr/>
                    <a:lstStyle/>
                    <a:p>
                      <a:r>
                        <a:rPr sz="1150" b="0">
                          <a:solidFill>
                            <a:srgbClr val="202124"/>
                          </a:solidFill>
                          <a:latin typeface="Google Sans Flex"/>
                        </a:rPr>
                        <a:t>Within free tier at demo traffic</a:t>
                      </a:r>
                    </a:p>
                  </a:txBody>
                  <a:tcPr>
                    <a:solidFill>
                      <a:srgbClr val="FFFFFF"/>
                    </a:solidFill>
                  </a:tcPr>
                </a:tc>
              </a:tr>
              <a:tr h="416666">
                <a:tc>
                  <a:txBody>
                    <a:bodyPr/>
                    <a:lstStyle/>
                    <a:p>
                      <a:r>
                        <a:rPr sz="1150" b="0">
                          <a:solidFill>
                            <a:srgbClr val="202124"/>
                          </a:solidFill>
                          <a:latin typeface="Google Sans Flex"/>
                        </a:rPr>
                        <a:t>Gemini 2.5 Flash (Vertex)</a:t>
                      </a:r>
                    </a:p>
                  </a:txBody>
                  <a:tcPr>
                    <a:solidFill>
                      <a:srgbClr val="F1F3F4"/>
                    </a:solidFill>
                  </a:tcPr>
                </a:tc>
                <a:tc>
                  <a:txBody>
                    <a:bodyPr/>
                    <a:lstStyle/>
                    <a:p>
                      <a:r>
                        <a:rPr sz="1150" b="0">
                          <a:solidFill>
                            <a:srgbClr val="202124"/>
                          </a:solidFill>
                          <a:latin typeface="Google Sans Flex"/>
                        </a:rPr>
                        <a:t>Per token; about 3 short calls per scenario run</a:t>
                      </a:r>
                    </a:p>
                  </a:txBody>
                  <a:tcPr>
                    <a:solidFill>
                      <a:srgbClr val="F1F3F4"/>
                    </a:solidFill>
                  </a:tcPr>
                </a:tc>
                <a:tc>
                  <a:txBody>
                    <a:bodyPr/>
                    <a:lstStyle/>
                    <a:p>
                      <a:r>
                        <a:rPr sz="1150" b="0">
                          <a:solidFill>
                            <a:srgbClr val="202124"/>
                          </a:solidFill>
                          <a:latin typeface="Google Sans Flex"/>
                        </a:rPr>
                        <a:t>A few cents per 100 sessions</a:t>
                      </a:r>
                    </a:p>
                  </a:txBody>
                  <a:tcPr>
                    <a:solidFill>
                      <a:srgbClr val="F1F3F4"/>
                    </a:solidFill>
                  </a:tcPr>
                </a:tc>
              </a:tr>
              <a:tr h="416666">
                <a:tc>
                  <a:txBody>
                    <a:bodyPr/>
                    <a:lstStyle/>
                    <a:p>
                      <a:r>
                        <a:rPr sz="1150" b="0">
                          <a:solidFill>
                            <a:srgbClr val="202124"/>
                          </a:solidFill>
                          <a:latin typeface="Google Sans Flex"/>
                        </a:rPr>
                        <a:t>Firebase Auth / FCM / App Check</a:t>
                      </a:r>
                    </a:p>
                  </a:txBody>
                  <a:tcPr>
                    <a:solidFill>
                      <a:srgbClr val="FFFFFF"/>
                    </a:solidFill>
                  </a:tcPr>
                </a:tc>
                <a:tc>
                  <a:txBody>
                    <a:bodyPr/>
                    <a:lstStyle/>
                    <a:p>
                      <a:r>
                        <a:rPr sz="1150" b="0">
                          <a:solidFill>
                            <a:srgbClr val="202124"/>
                          </a:solidFill>
                          <a:latin typeface="Google Sans Flex"/>
                        </a:rPr>
                        <a:t>Free tier covers anonymous, email, push</a:t>
                      </a:r>
                    </a:p>
                  </a:txBody>
                  <a:tcPr>
                    <a:solidFill>
                      <a:srgbClr val="FFFFFF"/>
                    </a:solidFill>
                  </a:tcPr>
                </a:tc>
                <a:tc>
                  <a:txBody>
                    <a:bodyPr/>
                    <a:lstStyle/>
                    <a:p>
                      <a:r>
                        <a:rPr sz="1150" b="0">
                          <a:solidFill>
                            <a:srgbClr val="202124"/>
                          </a:solidFill>
                          <a:latin typeface="Google Sans Flex"/>
                        </a:rPr>
                        <a:t>No cost</a:t>
                      </a:r>
                    </a:p>
                  </a:txBody>
                  <a:tcPr>
                    <a:solidFill>
                      <a:srgbClr val="FFFFFF"/>
                    </a:solidFill>
                  </a:tcPr>
                </a:tc>
              </a:tr>
              <a:tr h="416670">
                <a:tc>
                  <a:txBody>
                    <a:bodyPr/>
                    <a:lstStyle/>
                    <a:p>
                      <a:r>
                        <a:rPr sz="1150" b="0">
                          <a:solidFill>
                            <a:srgbClr val="202124"/>
                          </a:solidFill>
                          <a:latin typeface="Google Sans Flex"/>
                        </a:rPr>
                        <a:t>Cloud Build / Artifact Registry</a:t>
                      </a:r>
                    </a:p>
                  </a:txBody>
                  <a:tcPr>
                    <a:solidFill>
                      <a:srgbClr val="F1F3F4"/>
                    </a:solidFill>
                  </a:tcPr>
                </a:tc>
                <a:tc>
                  <a:txBody>
                    <a:bodyPr/>
                    <a:lstStyle/>
                    <a:p>
                      <a:r>
                        <a:rPr sz="1150" b="0">
                          <a:solidFill>
                            <a:srgbClr val="202124"/>
                          </a:solidFill>
                          <a:latin typeface="Google Sans Flex"/>
                        </a:rPr>
                        <a:t>Per build minute, storage</a:t>
                      </a:r>
                    </a:p>
                  </a:txBody>
                  <a:tcPr>
                    <a:solidFill>
                      <a:srgbClr val="F1F3F4"/>
                    </a:solidFill>
                  </a:tcPr>
                </a:tc>
                <a:tc>
                  <a:txBody>
                    <a:bodyPr/>
                    <a:lstStyle/>
                    <a:p>
                      <a:r>
                        <a:rPr sz="1150" b="0">
                          <a:solidFill>
                            <a:srgbClr val="202124"/>
                          </a:solidFill>
                          <a:latin typeface="Google Sans Flex"/>
                        </a:rPr>
                        <a:t>Under US$1 per month</a:t>
                      </a:r>
                    </a:p>
                  </a:txBody>
                  <a:tcPr>
                    <a:solidFill>
                      <a:srgbClr val="F1F3F4"/>
                    </a:solidFill>
                  </a:tcPr>
                </a:tc>
              </a:tr>
            </a:tbl>
          </a:graphicData>
        </a:graphic>
      </p:graphicFrame>
      <p:sp>
        <p:nvSpPr>
          <p:cNvPr id="129" name="TextBox 128"/>
          <p:cNvSpPr txBox="1"/>
          <p:nvPr/>
        </p:nvSpPr>
        <p:spPr>
          <a:xfrm>
            <a:off x="365760" y="3800000"/>
            <a:ext cx="8412480" cy="1100000"/>
          </a:xfrm>
          <a:prstGeom prst="rect">
            <a:avLst/>
          </a:prstGeom>
          <a:noFill/>
        </p:spPr>
        <p:txBody>
          <a:bodyPr wrap="square" anchor="t" lIns="45720" rIns="45720" tIns="22860" bIns="22860">
            <a:spAutoFit/>
          </a:bodyPr>
          <a:lstStyle/>
          <a:p>
            <a:pPr algn="l">
              <a:spcAft>
                <a:spcPts val="300"/>
              </a:spcAft>
            </a:pPr>
            <a:r>
              <a:rPr sz="1300" b="1">
                <a:solidFill>
                  <a:srgbClr val="4285F4"/>
                </a:solidFill>
                <a:latin typeface="Google Sans Flex"/>
              </a:rPr>
              <a:t>Estimated prototype running cost: under US$10 per month at demo traffic.</a:t>
            </a:r>
          </a:p>
          <a:p>
            <a:pPr algn="l">
              <a:spcAft>
                <a:spcPts val="300"/>
              </a:spcAft>
            </a:pPr>
            <a:r>
              <a:rPr sz="1150">
                <a:solidFill>
                  <a:srgbClr val="5F6368"/>
                </a:solidFill>
                <a:latin typeface="Google Sans Flex"/>
              </a:rPr>
              <a:t>These are estimates from published pricing models, not measured bills. Cost per active user is dominated by Gemini tokens, and the app calls Gemini only on discovery, assistant, explanation and document extraction, never on page views.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65760" y="1000000"/>
            <a:ext cx="8412480" cy="300000"/>
          </a:xfrm>
          <a:prstGeom prst="rect">
            <a:avLst/>
          </a:prstGeom>
          <a:noFill/>
        </p:spPr>
        <p:txBody>
          <a:bodyPr wrap="square" anchor="t" lIns="45720" rIns="45720" tIns="22860" bIns="22860">
            <a:spAutoFit/>
          </a:bodyPr>
          <a:lstStyle/>
          <a:p>
            <a:pPr algn="l">
              <a:spcAft>
                <a:spcPts val="300"/>
              </a:spcAft>
            </a:pPr>
            <a:r>
              <a:rPr sz="1150">
                <a:solidFill>
                  <a:srgbClr val="5F6368"/>
                </a:solidFill>
                <a:latin typeface="Google Sans Flex"/>
              </a:rPr>
              <a:t>Live output for the synthetic demo persona (60-day horizon, INR). Values below are the engine's response, not mock data.</a:t>
            </a:r>
          </a:p>
        </p:txBody>
      </p:sp>
      <p:sp>
        <p:nvSpPr>
          <p:cNvPr id="137" name="Rounded Rectangle 136"/>
          <p:cNvSpPr/>
          <p:nvPr/>
        </p:nvSpPr>
        <p:spPr>
          <a:xfrm>
            <a:off x="365760" y="1400000"/>
            <a:ext cx="2013120" cy="12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25760" y="147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4285F4"/>
                </a:solidFill>
                <a:latin typeface="Google Sans Flex"/>
              </a:rPr>
              <a:t>₹42,000</a:t>
            </a:r>
          </a:p>
        </p:txBody>
      </p:sp>
      <p:sp>
        <p:nvSpPr>
          <p:cNvPr id="139" name="TextBox 138"/>
          <p:cNvSpPr txBox="1"/>
          <p:nvPr/>
        </p:nvSpPr>
        <p:spPr>
          <a:xfrm>
            <a:off x="425760" y="2100000"/>
            <a:ext cx="1893120" cy="5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Opening balance, 18 Oct</a:t>
            </a:r>
          </a:p>
        </p:txBody>
      </p:sp>
      <p:sp>
        <p:nvSpPr>
          <p:cNvPr id="140" name="Rounded Rectangle 139"/>
          <p:cNvSpPr/>
          <p:nvPr/>
        </p:nvSpPr>
        <p:spPr>
          <a:xfrm>
            <a:off x="2498880" y="1400000"/>
            <a:ext cx="2013120" cy="12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558880" y="147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EA4335"/>
                </a:solidFill>
                <a:latin typeface="Google Sans Flex"/>
              </a:rPr>
              <a:t>₹5,800</a:t>
            </a:r>
          </a:p>
        </p:txBody>
      </p:sp>
      <p:sp>
        <p:nvSpPr>
          <p:cNvPr id="142" name="TextBox 141"/>
          <p:cNvSpPr txBox="1"/>
          <p:nvPr/>
        </p:nvSpPr>
        <p:spPr>
          <a:xfrm>
            <a:off x="2558880" y="2100000"/>
            <a:ext cx="1893120" cy="5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Lowest projected balance, 21 Nov</a:t>
            </a:r>
          </a:p>
        </p:txBody>
      </p:sp>
      <p:sp>
        <p:nvSpPr>
          <p:cNvPr id="143" name="Rounded Rectangle 142"/>
          <p:cNvSpPr/>
          <p:nvPr/>
        </p:nvSpPr>
        <p:spPr>
          <a:xfrm>
            <a:off x="4632000" y="1400000"/>
            <a:ext cx="2013120" cy="12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692000" y="147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34A853"/>
                </a:solidFill>
                <a:latin typeface="Google Sans Flex"/>
              </a:rPr>
              <a:t>₹32,600</a:t>
            </a:r>
          </a:p>
        </p:txBody>
      </p:sp>
      <p:sp>
        <p:nvSpPr>
          <p:cNvPr id="145" name="TextBox 144"/>
          <p:cNvSpPr txBox="1"/>
          <p:nvPr/>
        </p:nvSpPr>
        <p:spPr>
          <a:xfrm>
            <a:off x="4692000" y="2100000"/>
            <a:ext cx="1893120" cy="5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Closing balance, day 60</a:t>
            </a:r>
          </a:p>
        </p:txBody>
      </p:sp>
      <p:sp>
        <p:nvSpPr>
          <p:cNvPr id="146" name="Rounded Rectangle 145"/>
          <p:cNvSpPr/>
          <p:nvPr/>
        </p:nvSpPr>
        <p:spPr>
          <a:xfrm>
            <a:off x="6765120" y="1400000"/>
            <a:ext cx="2013120" cy="12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825120" y="147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F9AB00"/>
                </a:solidFill>
                <a:latin typeface="Google Sans Flex"/>
              </a:rPr>
              <a:t>14</a:t>
            </a:r>
          </a:p>
        </p:txBody>
      </p:sp>
      <p:sp>
        <p:nvSpPr>
          <p:cNvPr id="148" name="TextBox 147"/>
          <p:cNvSpPr txBox="1"/>
          <p:nvPr/>
        </p:nvSpPr>
        <p:spPr>
          <a:xfrm>
            <a:off x="6825120" y="2100000"/>
            <a:ext cx="1893120" cy="5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Cash events in horizon</a:t>
            </a:r>
          </a:p>
        </p:txBody>
      </p:sp>
      <p:sp>
        <p:nvSpPr>
          <p:cNvPr id="149" name="Rounded Rectangle 148"/>
          <p:cNvSpPr/>
          <p:nvPr/>
        </p:nvSpPr>
        <p:spPr>
          <a:xfrm>
            <a:off x="365760" y="2800000"/>
            <a:ext cx="8412480" cy="15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65760" y="2860000"/>
            <a:ext cx="8212480" cy="1400000"/>
          </a:xfrm>
          <a:prstGeom prst="rect">
            <a:avLst/>
          </a:prstGeom>
          <a:noFill/>
        </p:spPr>
        <p:txBody>
          <a:bodyPr wrap="square" anchor="t" lIns="45720" rIns="45720" tIns="22860" bIns="22860">
            <a:spAutoFit/>
          </a:bodyPr>
          <a:lstStyle/>
          <a:p>
            <a:pPr algn="l">
              <a:spcAft>
                <a:spcPts val="300"/>
              </a:spcAft>
            </a:pPr>
            <a:r>
              <a:rPr sz="1200" b="1">
                <a:solidFill>
                  <a:srgbClr val="4285F4"/>
                </a:solidFill>
                <a:latin typeface="Google Sans Flex"/>
              </a:rPr>
              <a:t>Scenario found by discovery</a:t>
            </a:r>
          </a:p>
          <a:p>
            <a:pPr algn="l">
              <a:spcAft>
                <a:spcPts val="300"/>
              </a:spcAft>
            </a:pPr>
            <a:r>
              <a:rPr sz="1150">
                <a:solidFill>
                  <a:srgbClr val="202124"/>
                </a:solidFill>
                <a:latin typeface="Google Sans Flex"/>
              </a:rPr>
              <a:t>Late income plus an unexpected expense: Client A (design retainer) is 10 days late and an unplanned ₹22,000 expense, equal to the largest single obligation, lands on 26 Oct. Result: first shortfall 26 Oct, lowest balance -₹64,200 on 2 Nov, 39 days negative (the 10-day delay alone: -₹42,200, 15 days negative).</a:t>
            </a:r>
          </a:p>
          <a:p>
            <a:pPr algn="l">
              <a:spcAft>
                <a:spcPts val="300"/>
              </a:spcAft>
            </a:pPr>
            <a:r>
              <a:rPr sz="1150">
                <a:solidFill>
                  <a:srgbClr val="5F6368"/>
                </a:solidFill>
                <a:latin typeface="Google Sans Flex"/>
              </a:rPr>
              <a:t>Missing information reported: "Grace period for 'Personal loan EMI' is unknown."</a:t>
            </a:r>
          </a:p>
          <a:p>
            <a:pPr algn="l">
              <a:spcAft>
                <a:spcPts val="300"/>
              </a:spcAft>
            </a:pPr>
            <a:r>
              <a:rPr sz="1150">
                <a:solidFill>
                  <a:srgbClr val="5F6368"/>
                </a:solidFill>
                <a:latin typeface="Google Sans Flex"/>
              </a:rPr>
              <a:t>Labels returned with every result: numbers = simulated_by_engine; hypotheses = AI or rule-based demo fallback, shown explicitly.</a:t>
            </a:r>
          </a:p>
        </p:txBody>
      </p:sp>
      <p:sp>
        <p:nvSpPr>
          <p:cNvPr id="151" name="TextBox 150"/>
          <p:cNvSpPr txBox="1"/>
          <p:nvPr/>
        </p:nvSpPr>
        <p:spPr>
          <a:xfrm>
            <a:off x="365760" y="4400000"/>
            <a:ext cx="8412480" cy="6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Screens: welcome, auth, profile setup, home, cash flow, records, documents, scenarios, scenario detail, assistant, alerts, settings.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365760" y="1050000"/>
            <a:ext cx="2013120" cy="14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25760" y="111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34A853"/>
                </a:solidFill>
                <a:latin typeface="Google Sans Flex"/>
              </a:rPr>
              <a:t>51 / 51</a:t>
            </a:r>
          </a:p>
        </p:txBody>
      </p:sp>
      <p:sp>
        <p:nvSpPr>
          <p:cNvPr id="146" name="TextBox 145"/>
          <p:cNvSpPr txBox="1"/>
          <p:nvPr/>
        </p:nvSpPr>
        <p:spPr>
          <a:xfrm>
            <a:off x="425760" y="1750000"/>
            <a:ext cx="1893120" cy="7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backend tests passing (engine, API, Gemini adapter)</a:t>
            </a:r>
          </a:p>
        </p:txBody>
      </p:sp>
      <p:sp>
        <p:nvSpPr>
          <p:cNvPr id="147" name="Rounded Rectangle 146"/>
          <p:cNvSpPr/>
          <p:nvPr/>
        </p:nvSpPr>
        <p:spPr>
          <a:xfrm>
            <a:off x="2498880" y="1050000"/>
            <a:ext cx="2013120" cy="14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2558880" y="111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4285F4"/>
                </a:solidFill>
                <a:latin typeface="Google Sans Flex"/>
              </a:rPr>
              <a:t>5.5 ms</a:t>
            </a:r>
          </a:p>
        </p:txBody>
      </p:sp>
      <p:sp>
        <p:nvSpPr>
          <p:cNvPr id="149" name="TextBox 148"/>
          <p:cNvSpPr txBox="1"/>
          <p:nvPr/>
        </p:nvSpPr>
        <p:spPr>
          <a:xfrm>
            <a:off x="2558880" y="1750000"/>
            <a:ext cx="1893120" cy="7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median, GET /cashflow, 60-day horizon</a:t>
            </a:r>
          </a:p>
        </p:txBody>
      </p:sp>
      <p:sp>
        <p:nvSpPr>
          <p:cNvPr id="150" name="Rounded Rectangle 149"/>
          <p:cNvSpPr/>
          <p:nvPr/>
        </p:nvSpPr>
        <p:spPr>
          <a:xfrm>
            <a:off x="4632000" y="1050000"/>
            <a:ext cx="2013120" cy="14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692000" y="111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4285F4"/>
                </a:solidFill>
                <a:latin typeface="Google Sans Flex"/>
              </a:rPr>
              <a:t>9.6 ms</a:t>
            </a:r>
          </a:p>
        </p:txBody>
      </p:sp>
      <p:sp>
        <p:nvSpPr>
          <p:cNvPr id="152" name="TextBox 151"/>
          <p:cNvSpPr txBox="1"/>
          <p:nvPr/>
        </p:nvSpPr>
        <p:spPr>
          <a:xfrm>
            <a:off x="4692000" y="1750000"/>
            <a:ext cx="1893120" cy="7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median, scenario discovery incl. simulation (fallback provider)</a:t>
            </a:r>
          </a:p>
        </p:txBody>
      </p:sp>
      <p:sp>
        <p:nvSpPr>
          <p:cNvPr id="153" name="Rounded Rectangle 152"/>
          <p:cNvSpPr/>
          <p:nvPr/>
        </p:nvSpPr>
        <p:spPr>
          <a:xfrm>
            <a:off x="6765120" y="1050000"/>
            <a:ext cx="2013120" cy="14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825120" y="1110000"/>
            <a:ext cx="1893120" cy="600000"/>
          </a:xfrm>
          <a:prstGeom prst="rect">
            <a:avLst/>
          </a:prstGeom>
          <a:noFill/>
        </p:spPr>
        <p:txBody>
          <a:bodyPr wrap="square" anchor="ctr" lIns="45720" rIns="45720" tIns="22860" bIns="22860">
            <a:spAutoFit/>
          </a:bodyPr>
          <a:lstStyle/>
          <a:p>
            <a:pPr algn="l">
              <a:spcAft>
                <a:spcPts val="300"/>
              </a:spcAft>
            </a:pPr>
            <a:r>
              <a:rPr sz="2600" b="1">
                <a:solidFill>
                  <a:srgbClr val="EA4335"/>
                </a:solidFill>
                <a:latin typeface="Google Sans Flex"/>
              </a:rPr>
              <a:t>0</a:t>
            </a:r>
          </a:p>
        </p:txBody>
      </p:sp>
      <p:sp>
        <p:nvSpPr>
          <p:cNvPr id="155" name="TextBox 154"/>
          <p:cNvSpPr txBox="1"/>
          <p:nvPr/>
        </p:nvSpPr>
        <p:spPr>
          <a:xfrm>
            <a:off x="6825120" y="1750000"/>
            <a:ext cx="1893120" cy="70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AI-generated numbers: all amounts come from the engine</a:t>
            </a:r>
          </a:p>
        </p:txBody>
      </p:sp>
      <p:sp>
        <p:nvSpPr>
          <p:cNvPr id="156" name="TextBox 155"/>
          <p:cNvSpPr txBox="1"/>
          <p:nvPr/>
        </p:nvSpPr>
        <p:spPr>
          <a:xfrm>
            <a:off x="365760" y="2700000"/>
            <a:ext cx="8412480" cy="2200000"/>
          </a:xfrm>
          <a:prstGeom prst="rect">
            <a:avLst/>
          </a:prstGeom>
          <a:noFill/>
        </p:spPr>
        <p:txBody>
          <a:bodyPr wrap="square" anchor="t" lIns="45720" rIns="45720" tIns="22860" bIns="22860">
            <a:spAutoFit/>
          </a:bodyPr>
          <a:lstStyle/>
          <a:p>
            <a:pPr algn="l">
              <a:spcAft>
                <a:spcPts val="300"/>
              </a:spcAft>
            </a:pPr>
            <a:r>
              <a:rPr sz="1300" b="1">
                <a:solidFill>
                  <a:srgbClr val="4285F4"/>
                </a:solidFill>
                <a:latin typeface="Google Sans Flex"/>
              </a:rPr>
              <a:t>Method</a:t>
            </a:r>
          </a:p>
          <a:p>
            <a:pPr algn="l" marL="171450" indent="-171450">
              <a:spcAft>
                <a:spcPts val="600"/>
              </a:spcAft>
              <a:buChar char="•"/>
            </a:pPr>
            <a:r>
              <a:rPr sz="1150">
                <a:solidFill>
                  <a:srgbClr val="202124"/>
                </a:solidFill>
                <a:latin typeface="Google Sans Flex"/>
              </a:rPr>
              <a:t>Measured in-process with the FastAPI test client, in-memory repository, synthetic demo data, 30 runs (cash flow) and 10 runs (discovery). It excludes network, Firestore and Gemini latency, so it shows the engine cost, not end-to-end latency.</a:t>
            </a:r>
          </a:p>
          <a:p>
            <a:pPr algn="l" marL="171450" indent="-171450">
              <a:spcAft>
                <a:spcPts val="600"/>
              </a:spcAft>
              <a:buChar char="•"/>
            </a:pPr>
            <a:r>
              <a:rPr sz="1150">
                <a:solidFill>
                  <a:srgbClr val="202124"/>
                </a:solidFill>
                <a:latin typeface="Google Sans Flex"/>
              </a:rPr>
              <a:t>Determinism: same input gives the same output (no randomness, no clock access in the engine); money is integer minor units.</a:t>
            </a:r>
          </a:p>
          <a:p>
            <a:pPr algn="l" marL="171450" indent="-171450">
              <a:spcAft>
                <a:spcPts val="600"/>
              </a:spcAft>
              <a:buChar char="•"/>
            </a:pPr>
            <a:r>
              <a:rPr sz="1150">
                <a:solidFill>
                  <a:srgbClr val="202124"/>
                </a:solidFill>
                <a:latin typeface="Google Sans Flex"/>
              </a:rPr>
              <a:t>Safety checks in tests: dev auth refused when ENV=prod, schema-invalid model output retried then rejected, prompt-injection flag on documents.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60" y="1050000"/>
            <a:ext cx="2724160" cy="17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455760" y="1150000"/>
            <a:ext cx="170000" cy="170000"/>
          </a:xfrm>
          <a:prstGeom prst="ellipse">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65760" y="1110000"/>
            <a:ext cx="2364160" cy="300000"/>
          </a:xfrm>
          <a:prstGeom prst="rect">
            <a:avLst/>
          </a:prstGeom>
          <a:noFill/>
        </p:spPr>
        <p:txBody>
          <a:bodyPr wrap="square" anchor="t" lIns="45720" rIns="45720" tIns="22860" bIns="22860">
            <a:spAutoFit/>
          </a:bodyPr>
          <a:lstStyle/>
          <a:p>
            <a:pPr algn="l">
              <a:spcAft>
                <a:spcPts val="300"/>
              </a:spcAft>
            </a:pPr>
            <a:r>
              <a:rPr sz="1300" b="1">
                <a:solidFill>
                  <a:srgbClr val="202124"/>
                </a:solidFill>
                <a:latin typeface="Google Sans Flex"/>
              </a:rPr>
              <a:t>Real data in</a:t>
            </a:r>
          </a:p>
        </p:txBody>
      </p:sp>
      <p:sp>
        <p:nvSpPr>
          <p:cNvPr id="155" name="TextBox 154"/>
          <p:cNvSpPr txBox="1"/>
          <p:nvPr/>
        </p:nvSpPr>
        <p:spPr>
          <a:xfrm>
            <a:off x="455760" y="1500000"/>
            <a:ext cx="2544160" cy="1200000"/>
          </a:xfrm>
          <a:prstGeom prst="rect">
            <a:avLst/>
          </a:prstGeom>
          <a:noFill/>
        </p:spPr>
        <p:txBody>
          <a:bodyPr wrap="square" anchor="t" lIns="45720" rIns="45720" tIns="22860" bIns="22860">
            <a:spAutoFit/>
          </a:bodyPr>
          <a:lstStyle/>
          <a:p>
            <a:pPr algn="l">
              <a:spcAft>
                <a:spcPts val="300"/>
              </a:spcAft>
            </a:pPr>
            <a:r>
              <a:rPr sz="1150">
                <a:solidFill>
                  <a:srgbClr val="5F6368"/>
                </a:solidFill>
                <a:latin typeface="Google Sans Flex"/>
              </a:rPr>
              <a:t>Account Aggregator / bank feeds and UPI statements instead of manual entry.</a:t>
            </a:r>
          </a:p>
        </p:txBody>
      </p:sp>
      <p:sp>
        <p:nvSpPr>
          <p:cNvPr id="156" name="Rounded Rectangle 155"/>
          <p:cNvSpPr/>
          <p:nvPr/>
        </p:nvSpPr>
        <p:spPr>
          <a:xfrm>
            <a:off x="3209920" y="1050000"/>
            <a:ext cx="2724160" cy="17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299920" y="1150000"/>
            <a:ext cx="170000" cy="170000"/>
          </a:xfrm>
          <a:prstGeom prst="ellipse">
            <a:avLst/>
          </a:prstGeom>
          <a:solidFill>
            <a:srgbClr val="EA43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3509920" y="1110000"/>
            <a:ext cx="2364160" cy="300000"/>
          </a:xfrm>
          <a:prstGeom prst="rect">
            <a:avLst/>
          </a:prstGeom>
          <a:noFill/>
        </p:spPr>
        <p:txBody>
          <a:bodyPr wrap="square" anchor="t" lIns="45720" rIns="45720" tIns="22860" bIns="22860">
            <a:spAutoFit/>
          </a:bodyPr>
          <a:lstStyle/>
          <a:p>
            <a:pPr algn="l">
              <a:spcAft>
                <a:spcPts val="300"/>
              </a:spcAft>
            </a:pPr>
            <a:r>
              <a:rPr sz="1300" b="1">
                <a:solidFill>
                  <a:srgbClr val="202124"/>
                </a:solidFill>
                <a:latin typeface="Google Sans Flex"/>
              </a:rPr>
              <a:t>Fraud signals</a:t>
            </a:r>
          </a:p>
        </p:txBody>
      </p:sp>
      <p:sp>
        <p:nvSpPr>
          <p:cNvPr id="159" name="TextBox 158"/>
          <p:cNvSpPr txBox="1"/>
          <p:nvPr/>
        </p:nvSpPr>
        <p:spPr>
          <a:xfrm>
            <a:off x="3299920" y="1500000"/>
            <a:ext cx="2544160" cy="1200000"/>
          </a:xfrm>
          <a:prstGeom prst="rect">
            <a:avLst/>
          </a:prstGeom>
          <a:noFill/>
        </p:spPr>
        <p:txBody>
          <a:bodyPr wrap="square" anchor="t" lIns="45720" rIns="45720" tIns="22860" bIns="22860">
            <a:spAutoFit/>
          </a:bodyPr>
          <a:lstStyle/>
          <a:p>
            <a:pPr algn="l">
              <a:spcAft>
                <a:spcPts val="300"/>
              </a:spcAft>
            </a:pPr>
            <a:r>
              <a:rPr sz="1150">
                <a:solidFill>
                  <a:srgbClr val="5F6368"/>
                </a:solidFill>
                <a:latin typeface="Google Sans Flex"/>
              </a:rPr>
              <a:t>Flag unusual debits and mule-style inflows against the user's own pattern.</a:t>
            </a:r>
          </a:p>
        </p:txBody>
      </p:sp>
      <p:sp>
        <p:nvSpPr>
          <p:cNvPr id="160" name="Rounded Rectangle 159"/>
          <p:cNvSpPr/>
          <p:nvPr/>
        </p:nvSpPr>
        <p:spPr>
          <a:xfrm>
            <a:off x="6054080" y="1050000"/>
            <a:ext cx="2724160" cy="17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6144080" y="1150000"/>
            <a:ext cx="170000" cy="170000"/>
          </a:xfrm>
          <a:prstGeom prst="ellipse">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354080" y="1110000"/>
            <a:ext cx="2364160" cy="300000"/>
          </a:xfrm>
          <a:prstGeom prst="rect">
            <a:avLst/>
          </a:prstGeom>
          <a:noFill/>
        </p:spPr>
        <p:txBody>
          <a:bodyPr wrap="square" anchor="t" lIns="45720" rIns="45720" tIns="22860" bIns="22860">
            <a:spAutoFit/>
          </a:bodyPr>
          <a:lstStyle/>
          <a:p>
            <a:pPr algn="l">
              <a:spcAft>
                <a:spcPts val="300"/>
              </a:spcAft>
            </a:pPr>
            <a:r>
              <a:rPr sz="1300" b="1">
                <a:solidFill>
                  <a:srgbClr val="202124"/>
                </a:solidFill>
                <a:latin typeface="Google Sans Flex"/>
              </a:rPr>
              <a:t>Reach</a:t>
            </a:r>
          </a:p>
        </p:txBody>
      </p:sp>
      <p:sp>
        <p:nvSpPr>
          <p:cNvPr id="163" name="TextBox 162"/>
          <p:cNvSpPr txBox="1"/>
          <p:nvPr/>
        </p:nvSpPr>
        <p:spPr>
          <a:xfrm>
            <a:off x="6144080" y="1500000"/>
            <a:ext cx="2544160" cy="1200000"/>
          </a:xfrm>
          <a:prstGeom prst="rect">
            <a:avLst/>
          </a:prstGeom>
          <a:noFill/>
        </p:spPr>
        <p:txBody>
          <a:bodyPr wrap="square" anchor="t" lIns="45720" rIns="45720" tIns="22860" bIns="22860">
            <a:spAutoFit/>
          </a:bodyPr>
          <a:lstStyle/>
          <a:p>
            <a:pPr algn="l">
              <a:spcAft>
                <a:spcPts val="300"/>
              </a:spcAft>
            </a:pPr>
            <a:r>
              <a:rPr sz="1150">
                <a:solidFill>
                  <a:srgbClr val="5F6368"/>
                </a:solidFill>
                <a:latin typeface="Google Sans Flex"/>
              </a:rPr>
              <a:t>Hindi and regional languages; voice what-if; WhatsApp alerts.</a:t>
            </a:r>
          </a:p>
        </p:txBody>
      </p:sp>
      <p:sp>
        <p:nvSpPr>
          <p:cNvPr id="164" name="Rounded Rectangle 163"/>
          <p:cNvSpPr/>
          <p:nvPr/>
        </p:nvSpPr>
        <p:spPr>
          <a:xfrm>
            <a:off x="365760" y="2870000"/>
            <a:ext cx="2724160" cy="17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55760" y="2970000"/>
            <a:ext cx="170000" cy="170000"/>
          </a:xfrm>
          <a:prstGeom prst="ellipse">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65760" y="2930000"/>
            <a:ext cx="2364160" cy="300000"/>
          </a:xfrm>
          <a:prstGeom prst="rect">
            <a:avLst/>
          </a:prstGeom>
          <a:noFill/>
        </p:spPr>
        <p:txBody>
          <a:bodyPr wrap="square" anchor="t" lIns="45720" rIns="45720" tIns="22860" bIns="22860">
            <a:spAutoFit/>
          </a:bodyPr>
          <a:lstStyle/>
          <a:p>
            <a:pPr algn="l">
              <a:spcAft>
                <a:spcPts val="300"/>
              </a:spcAft>
            </a:pPr>
            <a:r>
              <a:rPr sz="1300" b="1">
                <a:solidFill>
                  <a:srgbClr val="202124"/>
                </a:solidFill>
                <a:latin typeface="Google Sans Flex"/>
              </a:rPr>
              <a:t>Trust</a:t>
            </a:r>
          </a:p>
        </p:txBody>
      </p:sp>
      <p:sp>
        <p:nvSpPr>
          <p:cNvPr id="167" name="TextBox 166"/>
          <p:cNvSpPr txBox="1"/>
          <p:nvPr/>
        </p:nvSpPr>
        <p:spPr>
          <a:xfrm>
            <a:off x="455760" y="3320000"/>
            <a:ext cx="2544160" cy="1200000"/>
          </a:xfrm>
          <a:prstGeom prst="rect">
            <a:avLst/>
          </a:prstGeom>
          <a:noFill/>
        </p:spPr>
        <p:txBody>
          <a:bodyPr wrap="square" anchor="t" lIns="45720" rIns="45720" tIns="22860" bIns="22860">
            <a:spAutoFit/>
          </a:bodyPr>
          <a:lstStyle/>
          <a:p>
            <a:pPr algn="l">
              <a:spcAft>
                <a:spcPts val="300"/>
              </a:spcAft>
            </a:pPr>
            <a:r>
              <a:rPr sz="1150">
                <a:solidFill>
                  <a:srgbClr val="5F6368"/>
                </a:solidFill>
                <a:latin typeface="Google Sans Flex"/>
              </a:rPr>
              <a:t>Per-field source links in the UI; audit trail export; App Check on web.</a:t>
            </a:r>
          </a:p>
        </p:txBody>
      </p:sp>
      <p:sp>
        <p:nvSpPr>
          <p:cNvPr id="168" name="Rounded Rectangle 167"/>
          <p:cNvSpPr/>
          <p:nvPr/>
        </p:nvSpPr>
        <p:spPr>
          <a:xfrm>
            <a:off x="3209920" y="2870000"/>
            <a:ext cx="2724160" cy="17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299920" y="2970000"/>
            <a:ext cx="170000" cy="170000"/>
          </a:xfrm>
          <a:prstGeom prst="ellipse">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3509920" y="2930000"/>
            <a:ext cx="2364160" cy="300000"/>
          </a:xfrm>
          <a:prstGeom prst="rect">
            <a:avLst/>
          </a:prstGeom>
          <a:noFill/>
        </p:spPr>
        <p:txBody>
          <a:bodyPr wrap="square" anchor="t" lIns="45720" rIns="45720" tIns="22860" bIns="22860">
            <a:spAutoFit/>
          </a:bodyPr>
          <a:lstStyle/>
          <a:p>
            <a:pPr algn="l">
              <a:spcAft>
                <a:spcPts val="300"/>
              </a:spcAft>
            </a:pPr>
            <a:r>
              <a:rPr sz="1300" b="1">
                <a:solidFill>
                  <a:srgbClr val="202124"/>
                </a:solidFill>
                <a:latin typeface="Google Sans Flex"/>
              </a:rPr>
              <a:t>Lender view</a:t>
            </a:r>
          </a:p>
        </p:txBody>
      </p:sp>
      <p:sp>
        <p:nvSpPr>
          <p:cNvPr id="171" name="TextBox 170"/>
          <p:cNvSpPr txBox="1"/>
          <p:nvPr/>
        </p:nvSpPr>
        <p:spPr>
          <a:xfrm>
            <a:off x="3299920" y="3320000"/>
            <a:ext cx="2544160" cy="1200000"/>
          </a:xfrm>
          <a:prstGeom prst="rect">
            <a:avLst/>
          </a:prstGeom>
          <a:noFill/>
        </p:spPr>
        <p:txBody>
          <a:bodyPr wrap="square" anchor="t" lIns="45720" rIns="45720" tIns="22860" bIns="22860">
            <a:spAutoFit/>
          </a:bodyPr>
          <a:lstStyle/>
          <a:p>
            <a:pPr algn="l">
              <a:spcAft>
                <a:spcPts val="300"/>
              </a:spcAft>
            </a:pPr>
            <a:r>
              <a:rPr sz="1150">
                <a:solidFill>
                  <a:srgbClr val="5F6368"/>
                </a:solidFill>
                <a:latin typeface="Google Sans Flex"/>
              </a:rPr>
              <a:t>Early-warning API for lenders to offer restructuring before a missed EMI.</a:t>
            </a:r>
          </a:p>
        </p:txBody>
      </p:sp>
      <p:sp>
        <p:nvSpPr>
          <p:cNvPr id="172" name="Rounded Rectangle 171"/>
          <p:cNvSpPr/>
          <p:nvPr/>
        </p:nvSpPr>
        <p:spPr>
          <a:xfrm>
            <a:off x="6054080" y="2870000"/>
            <a:ext cx="2724160" cy="170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6144080" y="2970000"/>
            <a:ext cx="170000" cy="170000"/>
          </a:xfrm>
          <a:prstGeom prst="ellipse">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354080" y="2930000"/>
            <a:ext cx="2364160" cy="300000"/>
          </a:xfrm>
          <a:prstGeom prst="rect">
            <a:avLst/>
          </a:prstGeom>
          <a:noFill/>
        </p:spPr>
        <p:txBody>
          <a:bodyPr wrap="square" anchor="t" lIns="45720" rIns="45720" tIns="22860" bIns="22860">
            <a:spAutoFit/>
          </a:bodyPr>
          <a:lstStyle/>
          <a:p>
            <a:pPr algn="l">
              <a:spcAft>
                <a:spcPts val="300"/>
              </a:spcAft>
            </a:pPr>
            <a:r>
              <a:rPr sz="1300" b="1">
                <a:solidFill>
                  <a:srgbClr val="202124"/>
                </a:solidFill>
                <a:latin typeface="Google Sans Flex"/>
              </a:rPr>
              <a:t>Calibration</a:t>
            </a:r>
          </a:p>
        </p:txBody>
      </p:sp>
      <p:sp>
        <p:nvSpPr>
          <p:cNvPr id="175" name="TextBox 174"/>
          <p:cNvSpPr txBox="1"/>
          <p:nvPr/>
        </p:nvSpPr>
        <p:spPr>
          <a:xfrm>
            <a:off x="6144080" y="3320000"/>
            <a:ext cx="2544160" cy="1200000"/>
          </a:xfrm>
          <a:prstGeom prst="rect">
            <a:avLst/>
          </a:prstGeom>
          <a:noFill/>
        </p:spPr>
        <p:txBody>
          <a:bodyPr wrap="square" anchor="t" lIns="45720" rIns="45720" tIns="22860" bIns="22860">
            <a:spAutoFit/>
          </a:bodyPr>
          <a:lstStyle/>
          <a:p>
            <a:pPr algn="l">
              <a:spcAft>
                <a:spcPts val="300"/>
              </a:spcAft>
            </a:pPr>
            <a:r>
              <a:rPr sz="1150">
                <a:solidFill>
                  <a:srgbClr val="5F6368"/>
                </a:solidFill>
                <a:latin typeface="Google Sans Flex"/>
              </a:rPr>
              <a:t>Back-test discovery against users' actual outcomes to rank scenarios.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TextBox 158"/>
          <p:cNvSpPr txBox="1"/>
          <p:nvPr/>
        </p:nvSpPr>
        <p:spPr>
          <a:xfrm>
            <a:off x="365760" y="663825"/>
            <a:ext cx="8412480" cy="400000"/>
          </a:xfrm>
          <a:prstGeom prst="rect">
            <a:avLst/>
          </a:prstGeom>
          <a:noFill/>
        </p:spPr>
        <p:txBody>
          <a:bodyPr wrap="square" anchor="t" lIns="45720" rIns="45720" tIns="22860" bIns="22860">
            <a:spAutoFit/>
          </a:bodyPr>
          <a:lstStyle/>
          <a:p>
            <a:pPr algn="l">
              <a:spcAft>
                <a:spcPts val="300"/>
              </a:spcAft>
            </a:pPr>
            <a:r>
              <a:rPr sz="1600" b="1">
                <a:solidFill>
                  <a:srgbClr val="202124"/>
                </a:solidFill>
                <a:latin typeface="Google Sans Flex"/>
              </a:rPr>
              <a:t>Provide links to your:</a:t>
            </a:r>
          </a:p>
        </p:txBody>
      </p:sp>
      <p:sp>
        <p:nvSpPr>
          <p:cNvPr id="160" name="Rounded Rectangle 159"/>
          <p:cNvSpPr/>
          <p:nvPr/>
        </p:nvSpPr>
        <p:spPr>
          <a:xfrm>
            <a:off x="365760" y="1250000"/>
            <a:ext cx="8412480" cy="88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485760" y="1330000"/>
            <a:ext cx="8172480" cy="330000"/>
          </a:xfrm>
          <a:prstGeom prst="rect">
            <a:avLst/>
          </a:prstGeom>
          <a:noFill/>
        </p:spPr>
        <p:txBody>
          <a:bodyPr wrap="square" anchor="t" lIns="45720" rIns="45720" tIns="22860" bIns="22860">
            <a:spAutoFit/>
          </a:bodyPr>
          <a:lstStyle/>
          <a:p>
            <a:pPr algn="l">
              <a:spcAft>
                <a:spcPts val="300"/>
              </a:spcAft>
            </a:pPr>
            <a:r>
              <a:rPr sz="1300" b="1">
                <a:solidFill>
                  <a:srgbClr val="4285F4"/>
                </a:solidFill>
                <a:latin typeface="Google Sans Flex"/>
              </a:rPr>
              <a:t>GitHub Public Repository</a:t>
            </a:r>
          </a:p>
        </p:txBody>
      </p:sp>
      <p:sp>
        <p:nvSpPr>
          <p:cNvPr id="162" name="link 0"/>
          <p:cNvSpPr txBox="1"/>
          <p:nvPr/>
        </p:nvSpPr>
        <p:spPr>
          <a:xfrm>
            <a:off x="485760" y="1700000"/>
            <a:ext cx="8172480" cy="360000"/>
          </a:xfrm>
          <a:prstGeom prst="rect">
            <a:avLst/>
          </a:prstGeom>
          <a:noFill/>
        </p:spPr>
        <p:txBody>
          <a:bodyPr wrap="square" anchor="t" lIns="45720" rIns="45720" tIns="22860" bIns="22860">
            <a:spAutoFit/>
          </a:bodyPr>
          <a:lstStyle/>
          <a:p>
            <a:pPr algn="l">
              <a:spcAft>
                <a:spcPts val="300"/>
              </a:spcAft>
            </a:pPr>
            <a:r>
              <a:rPr sz="1300">
                <a:solidFill>
                  <a:srgbClr val="202124"/>
                </a:solidFill>
                <a:latin typeface="Google Sans Flex"/>
              </a:rPr>
              <a:t>https://github.com/DHILIP-S-E/FINORA</a:t>
            </a:r>
          </a:p>
        </p:txBody>
      </p:sp>
      <p:sp>
        <p:nvSpPr>
          <p:cNvPr id="163" name="Rounded Rectangle 162"/>
          <p:cNvSpPr/>
          <p:nvPr/>
        </p:nvSpPr>
        <p:spPr>
          <a:xfrm>
            <a:off x="365760" y="2300000"/>
            <a:ext cx="8412480" cy="88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85760" y="2380000"/>
            <a:ext cx="8172480" cy="330000"/>
          </a:xfrm>
          <a:prstGeom prst="rect">
            <a:avLst/>
          </a:prstGeom>
          <a:noFill/>
        </p:spPr>
        <p:txBody>
          <a:bodyPr wrap="square" anchor="t" lIns="45720" rIns="45720" tIns="22860" bIns="22860">
            <a:spAutoFit/>
          </a:bodyPr>
          <a:lstStyle/>
          <a:p>
            <a:pPr algn="l">
              <a:spcAft>
                <a:spcPts val="300"/>
              </a:spcAft>
            </a:pPr>
            <a:r>
              <a:rPr sz="1300" b="1">
                <a:solidFill>
                  <a:srgbClr val="EA4335"/>
                </a:solidFill>
                <a:latin typeface="Google Sans Flex"/>
              </a:rPr>
              <a:t>Demo Video Link (3 Minutes)</a:t>
            </a:r>
          </a:p>
        </p:txBody>
      </p:sp>
      <p:sp>
        <p:nvSpPr>
          <p:cNvPr id="165" name="link 1"/>
          <p:cNvSpPr txBox="1"/>
          <p:nvPr/>
        </p:nvSpPr>
        <p:spPr>
          <a:xfrm>
            <a:off x="485760" y="2750000"/>
            <a:ext cx="8172480" cy="360000"/>
          </a:xfrm>
          <a:prstGeom prst="rect">
            <a:avLst/>
          </a:prstGeom>
          <a:noFill/>
        </p:spPr>
        <p:txBody>
          <a:bodyPr wrap="square" anchor="t" lIns="45720" rIns="45720" tIns="22860" bIns="22860">
            <a:spAutoFit/>
          </a:bodyPr>
          <a:lstStyle/>
          <a:p>
            <a:pPr algn="l">
              <a:spcAft>
                <a:spcPts val="300"/>
              </a:spcAft>
            </a:pPr>
            <a:r>
              <a:rPr sz="1300">
                <a:solidFill>
                  <a:srgbClr val="202124"/>
                </a:solidFill>
                <a:latin typeface="Google Sans Flex"/>
              </a:rPr>
              <a:t>VIDEO_LINK</a:t>
            </a:r>
          </a:p>
        </p:txBody>
      </p:sp>
      <p:sp>
        <p:nvSpPr>
          <p:cNvPr id="166" name="Rounded Rectangle 165"/>
          <p:cNvSpPr/>
          <p:nvPr/>
        </p:nvSpPr>
        <p:spPr>
          <a:xfrm>
            <a:off x="365760" y="3350000"/>
            <a:ext cx="8412480" cy="88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85760" y="3430000"/>
            <a:ext cx="8172480" cy="330000"/>
          </a:xfrm>
          <a:prstGeom prst="rect">
            <a:avLst/>
          </a:prstGeom>
          <a:noFill/>
        </p:spPr>
        <p:txBody>
          <a:bodyPr wrap="square" anchor="t" lIns="45720" rIns="45720" tIns="22860" bIns="22860">
            <a:spAutoFit/>
          </a:bodyPr>
          <a:lstStyle/>
          <a:p>
            <a:pPr algn="l">
              <a:spcAft>
                <a:spcPts val="300"/>
              </a:spcAft>
            </a:pPr>
            <a:r>
              <a:rPr sz="1300" b="1">
                <a:solidFill>
                  <a:srgbClr val="34A853"/>
                </a:solidFill>
                <a:latin typeface="Google Sans Flex"/>
              </a:rPr>
              <a:t>Final Product Link</a:t>
            </a:r>
          </a:p>
        </p:txBody>
      </p:sp>
      <p:sp>
        <p:nvSpPr>
          <p:cNvPr id="168" name="link 2"/>
          <p:cNvSpPr txBox="1"/>
          <p:nvPr/>
        </p:nvSpPr>
        <p:spPr>
          <a:xfrm>
            <a:off x="485760" y="3800000"/>
            <a:ext cx="8172480" cy="360000"/>
          </a:xfrm>
          <a:prstGeom prst="rect">
            <a:avLst/>
          </a:prstGeom>
          <a:noFill/>
        </p:spPr>
        <p:txBody>
          <a:bodyPr wrap="square" anchor="t" lIns="45720" rIns="45720" tIns="22860" bIns="22860">
            <a:spAutoFit/>
          </a:bodyPr>
          <a:lstStyle/>
          <a:p>
            <a:pPr algn="l">
              <a:spcAft>
                <a:spcPts val="300"/>
              </a:spcAft>
            </a:pPr>
            <a:r>
              <a:rPr sz="1300">
                <a:solidFill>
                  <a:srgbClr val="202124"/>
                </a:solidFill>
                <a:latin typeface="Google Sans Flex"/>
              </a:rPr>
              <a:t>https://finora-api-510528501361.asia-south1.run.app/docs  (live API + Swagger UI)</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365760" y="663825"/>
            <a:ext cx="8412480" cy="400000"/>
          </a:xfrm>
          <a:prstGeom prst="rect">
            <a:avLst/>
          </a:prstGeom>
          <a:noFill/>
        </p:spPr>
        <p:txBody>
          <a:bodyPr wrap="square" anchor="t" lIns="45720" rIns="45720" tIns="22860" bIns="22860">
            <a:spAutoFit/>
          </a:bodyPr>
          <a:lstStyle/>
          <a:p>
            <a:pPr algn="l">
              <a:spcAft>
                <a:spcPts val="300"/>
              </a:spcAft>
            </a:pPr>
            <a:r>
              <a:rPr sz="1600" b="1">
                <a:solidFill>
                  <a:srgbClr val="202124"/>
                </a:solidFill>
                <a:latin typeface="Google Sans Flex"/>
              </a:rPr>
              <a:t>Responsible AI and security</a:t>
            </a:r>
          </a:p>
        </p:txBody>
      </p:sp>
      <p:sp>
        <p:nvSpPr>
          <p:cNvPr id="168" name="Rounded Rectangle 167"/>
          <p:cNvSpPr/>
          <p:nvPr/>
        </p:nvSpPr>
        <p:spPr>
          <a:xfrm>
            <a:off x="365760" y="1150000"/>
            <a:ext cx="414624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465760" y="1210000"/>
            <a:ext cx="3946240" cy="300000"/>
          </a:xfrm>
          <a:prstGeom prst="rect">
            <a:avLst/>
          </a:prstGeom>
          <a:noFill/>
        </p:spPr>
        <p:txBody>
          <a:bodyPr wrap="square" anchor="t" lIns="45720" rIns="45720" tIns="22860" bIns="22860">
            <a:spAutoFit/>
          </a:bodyPr>
          <a:lstStyle/>
          <a:p>
            <a:pPr algn="l">
              <a:spcAft>
                <a:spcPts val="300"/>
              </a:spcAft>
            </a:pPr>
            <a:r>
              <a:rPr sz="1250" b="1">
                <a:solidFill>
                  <a:srgbClr val="4285F4"/>
                </a:solidFill>
                <a:latin typeface="Google Sans Flex"/>
              </a:rPr>
              <a:t>AI cannot invent numbers</a:t>
            </a:r>
          </a:p>
        </p:txBody>
      </p:sp>
      <p:sp>
        <p:nvSpPr>
          <p:cNvPr id="170" name="TextBox 169"/>
          <p:cNvSpPr txBox="1"/>
          <p:nvPr/>
        </p:nvSpPr>
        <p:spPr>
          <a:xfrm>
            <a:off x="465760" y="1550000"/>
            <a:ext cx="3946240" cy="73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Prompts forbid new amounts, dates and ids. Output is schema-validated JSON; unknown record ids are rejected.</a:t>
            </a:r>
          </a:p>
        </p:txBody>
      </p:sp>
      <p:sp>
        <p:nvSpPr>
          <p:cNvPr id="171" name="Rounded Rectangle 170"/>
          <p:cNvSpPr/>
          <p:nvPr/>
        </p:nvSpPr>
        <p:spPr>
          <a:xfrm>
            <a:off x="4632000" y="1150000"/>
            <a:ext cx="414624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4732000" y="1210000"/>
            <a:ext cx="3946240" cy="300000"/>
          </a:xfrm>
          <a:prstGeom prst="rect">
            <a:avLst/>
          </a:prstGeom>
          <a:noFill/>
        </p:spPr>
        <p:txBody>
          <a:bodyPr wrap="square" anchor="t" lIns="45720" rIns="45720" tIns="22860" bIns="22860">
            <a:spAutoFit/>
          </a:bodyPr>
          <a:lstStyle/>
          <a:p>
            <a:pPr algn="l">
              <a:spcAft>
                <a:spcPts val="300"/>
              </a:spcAft>
            </a:pPr>
            <a:r>
              <a:rPr sz="1250" b="1">
                <a:solidFill>
                  <a:srgbClr val="4285F4"/>
                </a:solidFill>
                <a:latin typeface="Google Sans Flex"/>
              </a:rPr>
              <a:t>Untrusted data stays data</a:t>
            </a:r>
          </a:p>
        </p:txBody>
      </p:sp>
      <p:sp>
        <p:nvSpPr>
          <p:cNvPr id="173" name="TextBox 172"/>
          <p:cNvSpPr txBox="1"/>
          <p:nvPr/>
        </p:nvSpPr>
        <p:spPr>
          <a:xfrm>
            <a:off x="4732000" y="1550000"/>
            <a:ext cx="3946240" cy="73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Record names, notes and document text are wrapped as data. Documents are scanned for instructions to the AI.</a:t>
            </a:r>
          </a:p>
        </p:txBody>
      </p:sp>
      <p:sp>
        <p:nvSpPr>
          <p:cNvPr id="174" name="Rounded Rectangle 173"/>
          <p:cNvSpPr/>
          <p:nvPr/>
        </p:nvSpPr>
        <p:spPr>
          <a:xfrm>
            <a:off x="365760" y="2390000"/>
            <a:ext cx="414624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465760" y="2450000"/>
            <a:ext cx="3946240" cy="300000"/>
          </a:xfrm>
          <a:prstGeom prst="rect">
            <a:avLst/>
          </a:prstGeom>
          <a:noFill/>
        </p:spPr>
        <p:txBody>
          <a:bodyPr wrap="square" anchor="t" lIns="45720" rIns="45720" tIns="22860" bIns="22860">
            <a:spAutoFit/>
          </a:bodyPr>
          <a:lstStyle/>
          <a:p>
            <a:pPr algn="l">
              <a:spcAft>
                <a:spcPts val="300"/>
              </a:spcAft>
            </a:pPr>
            <a:r>
              <a:rPr sz="1250" b="1">
                <a:solidFill>
                  <a:srgbClr val="4285F4"/>
                </a:solidFill>
                <a:latin typeface="Google Sans Flex"/>
              </a:rPr>
              <a:t>No false certainty</a:t>
            </a:r>
          </a:p>
        </p:txBody>
      </p:sp>
      <p:sp>
        <p:nvSpPr>
          <p:cNvPr id="176" name="TextBox 175"/>
          <p:cNvSpPr txBox="1"/>
          <p:nvPr/>
        </p:nvSpPr>
        <p:spPr>
          <a:xfrm>
            <a:off x="465760" y="2790000"/>
            <a:ext cx="3946240" cy="73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No probabilities, no 'will happen'. Results are possibilities, with known inputs and unknowns listed.</a:t>
            </a:r>
          </a:p>
        </p:txBody>
      </p:sp>
      <p:sp>
        <p:nvSpPr>
          <p:cNvPr id="177" name="Rounded Rectangle 176"/>
          <p:cNvSpPr/>
          <p:nvPr/>
        </p:nvSpPr>
        <p:spPr>
          <a:xfrm>
            <a:off x="4632000" y="2390000"/>
            <a:ext cx="414624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4732000" y="2450000"/>
            <a:ext cx="3946240" cy="300000"/>
          </a:xfrm>
          <a:prstGeom prst="rect">
            <a:avLst/>
          </a:prstGeom>
          <a:noFill/>
        </p:spPr>
        <p:txBody>
          <a:bodyPr wrap="square" anchor="t" lIns="45720" rIns="45720" tIns="22860" bIns="22860">
            <a:spAutoFit/>
          </a:bodyPr>
          <a:lstStyle/>
          <a:p>
            <a:pPr algn="l">
              <a:spcAft>
                <a:spcPts val="300"/>
              </a:spcAft>
            </a:pPr>
            <a:r>
              <a:rPr sz="1250" b="1">
                <a:solidFill>
                  <a:srgbClr val="4285F4"/>
                </a:solidFill>
                <a:latin typeface="Google Sans Flex"/>
              </a:rPr>
              <a:t>Access control</a:t>
            </a:r>
          </a:p>
        </p:txBody>
      </p:sp>
      <p:sp>
        <p:nvSpPr>
          <p:cNvPr id="179" name="TextBox 178"/>
          <p:cNvSpPr txBox="1"/>
          <p:nvPr/>
        </p:nvSpPr>
        <p:spPr>
          <a:xfrm>
            <a:off x="4732000" y="2790000"/>
            <a:ext cx="3946240" cy="73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Firebase ID tokens verified server-side; per-user Firestore paths and rules; rate limits on AI routes.</a:t>
            </a:r>
          </a:p>
        </p:txBody>
      </p:sp>
      <p:sp>
        <p:nvSpPr>
          <p:cNvPr id="180" name="Rounded Rectangle 179"/>
          <p:cNvSpPr/>
          <p:nvPr/>
        </p:nvSpPr>
        <p:spPr>
          <a:xfrm>
            <a:off x="365760" y="3630000"/>
            <a:ext cx="414624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465760" y="3690000"/>
            <a:ext cx="3946240" cy="300000"/>
          </a:xfrm>
          <a:prstGeom prst="rect">
            <a:avLst/>
          </a:prstGeom>
          <a:noFill/>
        </p:spPr>
        <p:txBody>
          <a:bodyPr wrap="square" anchor="t" lIns="45720" rIns="45720" tIns="22860" bIns="22860">
            <a:spAutoFit/>
          </a:bodyPr>
          <a:lstStyle/>
          <a:p>
            <a:pPr algn="l">
              <a:spcAft>
                <a:spcPts val="300"/>
              </a:spcAft>
            </a:pPr>
            <a:r>
              <a:rPr sz="1250" b="1">
                <a:solidFill>
                  <a:srgbClr val="4285F4"/>
                </a:solidFill>
                <a:latin typeface="Google Sans Flex"/>
              </a:rPr>
              <a:t>Secrets and identity</a:t>
            </a:r>
          </a:p>
        </p:txBody>
      </p:sp>
      <p:sp>
        <p:nvSpPr>
          <p:cNvPr id="182" name="TextBox 181"/>
          <p:cNvSpPr txBox="1"/>
          <p:nvPr/>
        </p:nvSpPr>
        <p:spPr>
          <a:xfrm>
            <a:off x="465760" y="4030000"/>
            <a:ext cx="3946240" cy="73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Gemini via the Cloud Run service identity (Vertex AI); no keys in the app; dev auth blocked in production.</a:t>
            </a:r>
          </a:p>
        </p:txBody>
      </p:sp>
      <p:sp>
        <p:nvSpPr>
          <p:cNvPr id="183" name="Rounded Rectangle 182"/>
          <p:cNvSpPr/>
          <p:nvPr/>
        </p:nvSpPr>
        <p:spPr>
          <a:xfrm>
            <a:off x="4632000" y="3630000"/>
            <a:ext cx="4146240" cy="11500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4732000" y="3690000"/>
            <a:ext cx="3946240" cy="300000"/>
          </a:xfrm>
          <a:prstGeom prst="rect">
            <a:avLst/>
          </a:prstGeom>
          <a:noFill/>
        </p:spPr>
        <p:txBody>
          <a:bodyPr wrap="square" anchor="t" lIns="45720" rIns="45720" tIns="22860" bIns="22860">
            <a:spAutoFit/>
          </a:bodyPr>
          <a:lstStyle/>
          <a:p>
            <a:pPr algn="l">
              <a:spcAft>
                <a:spcPts val="300"/>
              </a:spcAft>
            </a:pPr>
            <a:r>
              <a:rPr sz="1250" b="1">
                <a:solidFill>
                  <a:srgbClr val="4285F4"/>
                </a:solidFill>
                <a:latin typeface="Google Sans Flex"/>
              </a:rPr>
              <a:t>User control</a:t>
            </a:r>
          </a:p>
        </p:txBody>
      </p:sp>
      <p:sp>
        <p:nvSpPr>
          <p:cNvPr id="185" name="TextBox 184"/>
          <p:cNvSpPr txBox="1"/>
          <p:nvPr/>
        </p:nvSpPr>
        <p:spPr>
          <a:xfrm>
            <a:off x="4732000" y="4030000"/>
            <a:ext cx="3946240" cy="730000"/>
          </a:xfrm>
          <a:prstGeom prst="rect">
            <a:avLst/>
          </a:prstGeom>
          <a:noFill/>
        </p:spPr>
        <p:txBody>
          <a:bodyPr wrap="square" anchor="t" lIns="45720" rIns="45720" tIns="22860" bIns="22860">
            <a:spAutoFit/>
          </a:bodyPr>
          <a:lstStyle/>
          <a:p>
            <a:pPr algn="l">
              <a:spcAft>
                <a:spcPts val="300"/>
              </a:spcAft>
            </a:pPr>
            <a:r>
              <a:rPr sz="1100">
                <a:solidFill>
                  <a:srgbClr val="5F6368"/>
                </a:solidFill>
                <a:latin typeface="Google Sans Flex"/>
              </a:rPr>
              <a:t>Export or delete all data; every AI output is labelled as AI or as the demo fallback.</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